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Hedvig Letters Sans" pitchFamily="2" charset="0"/>
      <p:regular r:id="rId15"/>
    </p:embeddedFont>
    <p:embeddedFont>
      <p:font typeface="Liter" panose="02000503030000020004" pitchFamily="2" charset="0"/>
      <p:regular r:id="rId16"/>
    </p:embeddedFont>
    <p:embeddedFont>
      <p:font typeface="Quattrocento Sans" panose="020B0502050000020003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814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814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0F835-28EF-0547-BDE9-86730B493DC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7823200"/>
            <a:ext cx="73152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1613"/>
            <a:ext cx="3962400" cy="8143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15441613"/>
            <a:ext cx="3962400" cy="8143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6129A-0E5C-7244-A87E-49DCE1FFF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23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b1a1d8cca37d7f68d0a6170381b34ce537252a4e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519" r="51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60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2838" y="1798562"/>
            <a:ext cx="3540276" cy="517676"/>
          </a:xfrm>
          <a:custGeom>
            <a:avLst/>
            <a:gdLst/>
            <a:ahLst/>
            <a:cxnLst/>
            <a:rect l="l" t="t" r="r" b="b"/>
            <a:pathLst>
              <a:path w="3540276" h="517676">
                <a:moveTo>
                  <a:pt x="101599" y="0"/>
                </a:moveTo>
                <a:lnTo>
                  <a:pt x="3438677" y="0"/>
                </a:lnTo>
                <a:cubicBezTo>
                  <a:pt x="3494789" y="0"/>
                  <a:pt x="3540276" y="45487"/>
                  <a:pt x="3540276" y="101599"/>
                </a:cubicBezTo>
                <a:lnTo>
                  <a:pt x="3540276" y="416077"/>
                </a:lnTo>
                <a:cubicBezTo>
                  <a:pt x="3540276" y="472189"/>
                  <a:pt x="3494789" y="517676"/>
                  <a:pt x="3438677" y="517676"/>
                </a:cubicBezTo>
                <a:lnTo>
                  <a:pt x="101599" y="517676"/>
                </a:lnTo>
                <a:cubicBezTo>
                  <a:pt x="45487" y="517676"/>
                  <a:pt x="0" y="472189"/>
                  <a:pt x="0" y="416077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9676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0876" y="1967895"/>
            <a:ext cx="3218014" cy="198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DESIGN DOCUMENT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930676"/>
            <a:ext cx="8255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iQube V2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4A6D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Workflow Platform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521476"/>
            <a:ext cx="5803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Availability, Scalability &amp; Performance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74067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01675" y="6918476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0" name="Text 7"/>
          <p:cNvSpPr/>
          <p:nvPr/>
        </p:nvSpPr>
        <p:spPr>
          <a:xfrm>
            <a:off x="1270000" y="6740676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70000" y="6994676"/>
            <a:ext cx="118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Services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44485" y="674067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922285" y="691847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1"/>
          <p:cNvSpPr/>
          <p:nvPr/>
        </p:nvSpPr>
        <p:spPr>
          <a:xfrm>
            <a:off x="3506485" y="6740676"/>
            <a:ext cx="118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Uptime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06485" y="6994676"/>
            <a:ext cx="120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06219" y="674067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184019" y="691847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8" name="Text 15"/>
          <p:cNvSpPr/>
          <p:nvPr/>
        </p:nvSpPr>
        <p:spPr>
          <a:xfrm>
            <a:off x="5768219" y="6740676"/>
            <a:ext cx="125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68219" y="6994676"/>
            <a:ext cx="128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838" y="1884438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876" y="209247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" name="Text 4"/>
          <p:cNvSpPr/>
          <p:nvPr/>
        </p:nvSpPr>
        <p:spPr>
          <a:xfrm>
            <a:off x="876678" y="2194076"/>
            <a:ext cx="29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2076" y="2092476"/>
            <a:ext cx="299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32076" y="2498876"/>
            <a:ext cx="297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overview and key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838" y="3173790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0876" y="338182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1" name="Text 9"/>
          <p:cNvSpPr/>
          <p:nvPr/>
        </p:nvSpPr>
        <p:spPr>
          <a:xfrm>
            <a:off x="857174" y="3483429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32076" y="3381829"/>
            <a:ext cx="260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Architecture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2076" y="3788229"/>
            <a:ext cx="257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microservices and interactions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838" y="4463143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0876" y="467118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854529" y="4772782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2076" y="4671182"/>
            <a:ext cx="270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32076" y="5077582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Multi-zone deployment &amp; failover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2838" y="5752495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876" y="59605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" y="6062134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32076" y="5960534"/>
            <a:ext cx="220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2076" y="6366934"/>
            <a:ext cx="218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HPA, partitioning &amp; caching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2838" y="7041847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876" y="724988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6" name="Text 24"/>
          <p:cNvSpPr/>
          <p:nvPr/>
        </p:nvSpPr>
        <p:spPr>
          <a:xfrm>
            <a:off x="854226" y="7351486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32076" y="7249886"/>
            <a:ext cx="303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32076" y="7656286"/>
            <a:ext cx="300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 strategies &amp; benchmarks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2838" y="8331200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0876" y="85392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1" name="Text 29"/>
          <p:cNvSpPr/>
          <p:nvPr/>
        </p:nvSpPr>
        <p:spPr>
          <a:xfrm>
            <a:off x="852941" y="8640838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32076" y="8539238"/>
            <a:ext cx="243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Diagram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32076" y="8945638"/>
            <a:ext cx="241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system visualization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37638" y="1884438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45676" y="209247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8787266" y="2194076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56876" y="2092476"/>
            <a:ext cx="22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56876" y="2498876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Patterns &amp; HA configuration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37638" y="3173790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45676" y="338182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9"/>
          <p:cNvSpPr/>
          <p:nvPr/>
        </p:nvSpPr>
        <p:spPr>
          <a:xfrm>
            <a:off x="8776985" y="3483429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356876" y="3381829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356876" y="3788229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Auth, mTLS &amp; RBAC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37638" y="4463143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45676" y="467118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6" name="Text 44"/>
          <p:cNvSpPr/>
          <p:nvPr/>
        </p:nvSpPr>
        <p:spPr>
          <a:xfrm>
            <a:off x="8777590" y="4772782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356876" y="4671182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356876" y="5077582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Blue-Green &amp; Canary strategies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37638" y="5752495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45676" y="59605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1" name="Text 49"/>
          <p:cNvSpPr/>
          <p:nvPr/>
        </p:nvSpPr>
        <p:spPr>
          <a:xfrm>
            <a:off x="8801478" y="6062134"/>
            <a:ext cx="29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356876" y="5960534"/>
            <a:ext cx="23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356876" y="6366934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Observability stack &amp; alerting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37638" y="7041847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45676" y="724988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6" name="Text 54"/>
          <p:cNvSpPr/>
          <p:nvPr/>
        </p:nvSpPr>
        <p:spPr>
          <a:xfrm>
            <a:off x="8835193" y="7351486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356876" y="7249886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356876" y="7656286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tool &amp; framework list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37638" y="8331200"/>
            <a:ext cx="7299476" cy="1076476"/>
          </a:xfrm>
          <a:custGeom>
            <a:avLst/>
            <a:gdLst/>
            <a:ahLst/>
            <a:cxnLst/>
            <a:rect l="l" t="t" r="r" b="b"/>
            <a:pathLst>
              <a:path w="7299476" h="1076476">
                <a:moveTo>
                  <a:pt x="152397" y="0"/>
                </a:moveTo>
                <a:lnTo>
                  <a:pt x="7147079" y="0"/>
                </a:lnTo>
                <a:cubicBezTo>
                  <a:pt x="7231246" y="0"/>
                  <a:pt x="7299476" y="68230"/>
                  <a:pt x="7299476" y="152397"/>
                </a:cubicBezTo>
                <a:lnTo>
                  <a:pt x="7299476" y="924079"/>
                </a:lnTo>
                <a:cubicBezTo>
                  <a:pt x="7299476" y="1008246"/>
                  <a:pt x="7231246" y="1076476"/>
                  <a:pt x="7147079" y="1076476"/>
                </a:cubicBezTo>
                <a:lnTo>
                  <a:pt x="152397" y="1076476"/>
                </a:lnTo>
                <a:cubicBezTo>
                  <a:pt x="68287" y="1076476"/>
                  <a:pt x="0" y="1008190"/>
                  <a:pt x="0" y="9240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45676" y="85392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1" name="Text 59"/>
          <p:cNvSpPr/>
          <p:nvPr/>
        </p:nvSpPr>
        <p:spPr>
          <a:xfrm>
            <a:off x="8815690" y="86408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356876" y="8539238"/>
            <a:ext cx="233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356876" y="8945638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steps &amp; future roadmap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838" y="1681238"/>
            <a:ext cx="10753876" cy="2168676"/>
          </a:xfrm>
          <a:custGeom>
            <a:avLst/>
            <a:gdLst/>
            <a:ahLst/>
            <a:cxnLst/>
            <a:rect l="l" t="t" r="r" b="b"/>
            <a:pathLst>
              <a:path w="10753876" h="2168676">
                <a:moveTo>
                  <a:pt x="152393" y="0"/>
                </a:moveTo>
                <a:lnTo>
                  <a:pt x="10601483" y="0"/>
                </a:lnTo>
                <a:cubicBezTo>
                  <a:pt x="10685648" y="0"/>
                  <a:pt x="10753876" y="68229"/>
                  <a:pt x="10753876" y="152393"/>
                </a:cubicBezTo>
                <a:lnTo>
                  <a:pt x="10753876" y="2016283"/>
                </a:lnTo>
                <a:cubicBezTo>
                  <a:pt x="10753876" y="2100448"/>
                  <a:pt x="10685648" y="2168676"/>
                  <a:pt x="10601483" y="2168676"/>
                </a:cubicBezTo>
                <a:lnTo>
                  <a:pt x="152393" y="2168676"/>
                </a:lnTo>
                <a:cubicBezTo>
                  <a:pt x="68229" y="2168676"/>
                  <a:pt x="0" y="2100448"/>
                  <a:pt x="0" y="2016283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1676" y="19400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" name="Shape 4"/>
          <p:cNvSpPr/>
          <p:nvPr/>
        </p:nvSpPr>
        <p:spPr>
          <a:xfrm>
            <a:off x="914551" y="207977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146" y="-1116"/>
                </a:moveTo>
                <a:cubicBezTo>
                  <a:pt x="108987" y="-6206"/>
                  <a:pt x="119881" y="-6206"/>
                  <a:pt x="128721" y="-1116"/>
                </a:cubicBezTo>
                <a:lnTo>
                  <a:pt x="207258" y="44202"/>
                </a:lnTo>
                <a:cubicBezTo>
                  <a:pt x="216098" y="49292"/>
                  <a:pt x="221546" y="58757"/>
                  <a:pt x="221546" y="68937"/>
                </a:cubicBezTo>
                <a:lnTo>
                  <a:pt x="221546" y="159574"/>
                </a:lnTo>
                <a:cubicBezTo>
                  <a:pt x="221546" y="169798"/>
                  <a:pt x="216098" y="179219"/>
                  <a:pt x="207258" y="184309"/>
                </a:cubicBezTo>
                <a:lnTo>
                  <a:pt x="128721" y="229716"/>
                </a:lnTo>
                <a:cubicBezTo>
                  <a:pt x="119881" y="234806"/>
                  <a:pt x="108987" y="234806"/>
                  <a:pt x="100146" y="229716"/>
                </a:cubicBezTo>
                <a:lnTo>
                  <a:pt x="21654" y="184398"/>
                </a:lnTo>
                <a:cubicBezTo>
                  <a:pt x="12814" y="179308"/>
                  <a:pt x="7367" y="169843"/>
                  <a:pt x="7367" y="159663"/>
                </a:cubicBezTo>
                <a:lnTo>
                  <a:pt x="7367" y="69026"/>
                </a:lnTo>
                <a:cubicBezTo>
                  <a:pt x="7367" y="58802"/>
                  <a:pt x="12814" y="49381"/>
                  <a:pt x="21654" y="44291"/>
                </a:cubicBezTo>
                <a:lnTo>
                  <a:pt x="100146" y="-1116"/>
                </a:lnTo>
                <a:close/>
                <a:moveTo>
                  <a:pt x="192926" y="159618"/>
                </a:moveTo>
                <a:lnTo>
                  <a:pt x="192926" y="85457"/>
                </a:lnTo>
                <a:lnTo>
                  <a:pt x="128721" y="122515"/>
                </a:lnTo>
                <a:lnTo>
                  <a:pt x="128721" y="196676"/>
                </a:lnTo>
                <a:lnTo>
                  <a:pt x="192926" y="15961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432076" y="2016277"/>
            <a:ext cx="219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1676" y="2600477"/>
            <a:ext cx="10337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iQube V2 is a </a:t>
            </a: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configurable workflow automation platform</a:t>
            </a:r>
            <a:r>
              <a:rPr lang="en-US" sz="16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 on microservices architecture. It provides enterprise-grade business process management with 8 core services handling data ingestion, workflow orchestration, task management, and user interactions.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838" y="4113590"/>
            <a:ext cx="10753876" cy="2244876"/>
          </a:xfrm>
          <a:custGeom>
            <a:avLst/>
            <a:gdLst/>
            <a:ahLst/>
            <a:cxnLst/>
            <a:rect l="l" t="t" r="r" b="b"/>
            <a:pathLst>
              <a:path w="10753876" h="2244876">
                <a:moveTo>
                  <a:pt x="152405" y="0"/>
                </a:moveTo>
                <a:lnTo>
                  <a:pt x="10601472" y="0"/>
                </a:lnTo>
                <a:cubicBezTo>
                  <a:pt x="10685642" y="0"/>
                  <a:pt x="10753876" y="68234"/>
                  <a:pt x="10753876" y="152405"/>
                </a:cubicBezTo>
                <a:lnTo>
                  <a:pt x="10753876" y="2092472"/>
                </a:lnTo>
                <a:cubicBezTo>
                  <a:pt x="10753876" y="2176642"/>
                  <a:pt x="10685642" y="2244876"/>
                  <a:pt x="10601472" y="2244876"/>
                </a:cubicBezTo>
                <a:lnTo>
                  <a:pt x="152405" y="2244876"/>
                </a:lnTo>
                <a:cubicBezTo>
                  <a:pt x="68234" y="2244876"/>
                  <a:pt x="0" y="2176642"/>
                  <a:pt x="0" y="2092472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676" y="437242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Shape 9"/>
          <p:cNvSpPr/>
          <p:nvPr/>
        </p:nvSpPr>
        <p:spPr>
          <a:xfrm>
            <a:off x="914551" y="451212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1432076" y="4448629"/>
            <a:ext cx="179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7076" y="508362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1127276" y="5032829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7276" y="5286829"/>
            <a:ext cx="280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 uptime via multi-zone deployment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94400" y="508362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600" y="5032829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4600" y="5286829"/>
            <a:ext cx="232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10x traffic spikes with HPA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7076" y="569322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276" y="5642429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7276" y="5896429"/>
            <a:ext cx="214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Sub-100ms API response times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94400" y="569322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6324600" y="5642429"/>
            <a:ext cx="242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4600" y="5896429"/>
            <a:ext cx="241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auth &amp; encryption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2838" y="6622143"/>
            <a:ext cx="10753876" cy="1838476"/>
          </a:xfrm>
          <a:custGeom>
            <a:avLst/>
            <a:gdLst/>
            <a:ahLst/>
            <a:cxnLst/>
            <a:rect l="l" t="t" r="r" b="b"/>
            <a:pathLst>
              <a:path w="10753876" h="1838476">
                <a:moveTo>
                  <a:pt x="152391" y="0"/>
                </a:moveTo>
                <a:lnTo>
                  <a:pt x="10601485" y="0"/>
                </a:lnTo>
                <a:cubicBezTo>
                  <a:pt x="10685648" y="0"/>
                  <a:pt x="10753876" y="68228"/>
                  <a:pt x="10753876" y="152391"/>
                </a:cubicBezTo>
                <a:lnTo>
                  <a:pt x="10753876" y="1686085"/>
                </a:lnTo>
                <a:cubicBezTo>
                  <a:pt x="10753876" y="1770248"/>
                  <a:pt x="10685648" y="1838476"/>
                  <a:pt x="10601485" y="1838476"/>
                </a:cubicBezTo>
                <a:lnTo>
                  <a:pt x="152391" y="1838476"/>
                </a:lnTo>
                <a:cubicBezTo>
                  <a:pt x="68228" y="1838476"/>
                  <a:pt x="0" y="1770248"/>
                  <a:pt x="0" y="1686085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1676" y="688098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551" y="70206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1432076" y="6957182"/>
            <a:ext cx="226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Model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1676" y="7541382"/>
            <a:ext cx="10337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business use case gets </a:t>
            </a: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isolated deployment</a:t>
            </a:r>
            <a:r>
              <a:rPr lang="en-US" sz="16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dedicated service instances and database schemas. This ensures tenant isolation while maintaining operational efficiency through shared infrastructure.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688838" y="1681238"/>
            <a:ext cx="4048276" cy="3159276"/>
          </a:xfrm>
          <a:custGeom>
            <a:avLst/>
            <a:gdLst/>
            <a:ahLst/>
            <a:cxnLst/>
            <a:rect l="l" t="t" r="r" b="b"/>
            <a:pathLst>
              <a:path w="4048276" h="3159276">
                <a:moveTo>
                  <a:pt x="152403" y="0"/>
                </a:moveTo>
                <a:lnTo>
                  <a:pt x="3895873" y="0"/>
                </a:lnTo>
                <a:cubicBezTo>
                  <a:pt x="3980043" y="0"/>
                  <a:pt x="4048276" y="68233"/>
                  <a:pt x="4048276" y="152403"/>
                </a:cubicBezTo>
                <a:lnTo>
                  <a:pt x="4048276" y="3006873"/>
                </a:lnTo>
                <a:cubicBezTo>
                  <a:pt x="4048276" y="3091043"/>
                  <a:pt x="3980043" y="3159276"/>
                  <a:pt x="3895873" y="3159276"/>
                </a:cubicBezTo>
                <a:lnTo>
                  <a:pt x="152403" y="3159276"/>
                </a:lnTo>
                <a:cubicBezTo>
                  <a:pt x="68233" y="3159276"/>
                  <a:pt x="0" y="3091043"/>
                  <a:pt x="0" y="3006873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2D3136"/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979426" y="200357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2" name="Text 30"/>
          <p:cNvSpPr/>
          <p:nvPr/>
        </p:nvSpPr>
        <p:spPr>
          <a:xfrm>
            <a:off x="12239776" y="1940077"/>
            <a:ext cx="335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Metrics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947676" y="2498877"/>
            <a:ext cx="92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002632" y="2498877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947676" y="2803677"/>
            <a:ext cx="3530600" cy="101600"/>
          </a:xfrm>
          <a:custGeom>
            <a:avLst/>
            <a:gdLst/>
            <a:ahLst/>
            <a:cxnLst/>
            <a:rect l="l" t="t" r="r" b="b"/>
            <a:pathLst>
              <a:path w="3530600" h="101600">
                <a:moveTo>
                  <a:pt x="50800" y="0"/>
                </a:moveTo>
                <a:lnTo>
                  <a:pt x="3479800" y="0"/>
                </a:lnTo>
                <a:cubicBezTo>
                  <a:pt x="3507837" y="0"/>
                  <a:pt x="3530600" y="22763"/>
                  <a:pt x="3530600" y="50800"/>
                </a:cubicBezTo>
                <a:lnTo>
                  <a:pt x="3530600" y="50800"/>
                </a:lnTo>
                <a:cubicBezTo>
                  <a:pt x="3530600" y="78837"/>
                  <a:pt x="3507837" y="101600"/>
                  <a:pt x="3479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Shape 34"/>
          <p:cNvSpPr/>
          <p:nvPr/>
        </p:nvSpPr>
        <p:spPr>
          <a:xfrm>
            <a:off x="11947676" y="2803677"/>
            <a:ext cx="3530600" cy="101600"/>
          </a:xfrm>
          <a:custGeom>
            <a:avLst/>
            <a:gdLst/>
            <a:ahLst/>
            <a:cxnLst/>
            <a:rect l="l" t="t" r="r" b="b"/>
            <a:pathLst>
              <a:path w="3530600" h="101600">
                <a:moveTo>
                  <a:pt x="50800" y="0"/>
                </a:moveTo>
                <a:lnTo>
                  <a:pt x="3479800" y="0"/>
                </a:lnTo>
                <a:cubicBezTo>
                  <a:pt x="3507837" y="0"/>
                  <a:pt x="3530600" y="22763"/>
                  <a:pt x="3530600" y="50800"/>
                </a:cubicBezTo>
                <a:lnTo>
                  <a:pt x="3530600" y="50800"/>
                </a:lnTo>
                <a:cubicBezTo>
                  <a:pt x="3530600" y="78837"/>
                  <a:pt x="3507837" y="101600"/>
                  <a:pt x="3479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5"/>
          <p:cNvSpPr/>
          <p:nvPr/>
        </p:nvSpPr>
        <p:spPr>
          <a:xfrm>
            <a:off x="11947676" y="3057677"/>
            <a:ext cx="125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893472" y="3057677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6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947676" y="3362477"/>
            <a:ext cx="3530600" cy="101600"/>
          </a:xfrm>
          <a:custGeom>
            <a:avLst/>
            <a:gdLst/>
            <a:ahLst/>
            <a:cxnLst/>
            <a:rect l="l" t="t" r="r" b="b"/>
            <a:pathLst>
              <a:path w="3530600" h="101600">
                <a:moveTo>
                  <a:pt x="50800" y="0"/>
                </a:moveTo>
                <a:lnTo>
                  <a:pt x="3479800" y="0"/>
                </a:lnTo>
                <a:cubicBezTo>
                  <a:pt x="3507837" y="0"/>
                  <a:pt x="3530600" y="22763"/>
                  <a:pt x="3530600" y="50800"/>
                </a:cubicBezTo>
                <a:lnTo>
                  <a:pt x="3530600" y="50800"/>
                </a:lnTo>
                <a:cubicBezTo>
                  <a:pt x="3530600" y="78837"/>
                  <a:pt x="3507837" y="101600"/>
                  <a:pt x="3479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Shape 38"/>
          <p:cNvSpPr/>
          <p:nvPr/>
        </p:nvSpPr>
        <p:spPr>
          <a:xfrm>
            <a:off x="11947676" y="3362477"/>
            <a:ext cx="3009900" cy="101600"/>
          </a:xfrm>
          <a:custGeom>
            <a:avLst/>
            <a:gdLst/>
            <a:ahLst/>
            <a:cxnLst/>
            <a:rect l="l" t="t" r="r" b="b"/>
            <a:pathLst>
              <a:path w="3009900" h="101600">
                <a:moveTo>
                  <a:pt x="50800" y="0"/>
                </a:moveTo>
                <a:lnTo>
                  <a:pt x="2959100" y="0"/>
                </a:lnTo>
                <a:cubicBezTo>
                  <a:pt x="2987137" y="0"/>
                  <a:pt x="3009900" y="22763"/>
                  <a:pt x="3009900" y="50800"/>
                </a:cubicBezTo>
                <a:lnTo>
                  <a:pt x="3009900" y="50800"/>
                </a:lnTo>
                <a:cubicBezTo>
                  <a:pt x="3009900" y="78837"/>
                  <a:pt x="2987137" y="101600"/>
                  <a:pt x="29591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1" name="Text 39"/>
          <p:cNvSpPr/>
          <p:nvPr/>
        </p:nvSpPr>
        <p:spPr>
          <a:xfrm>
            <a:off x="11947676" y="3616477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4875858" y="3616477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 TPS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947676" y="3921277"/>
            <a:ext cx="3530600" cy="101600"/>
          </a:xfrm>
          <a:custGeom>
            <a:avLst/>
            <a:gdLst/>
            <a:ahLst/>
            <a:cxnLst/>
            <a:rect l="l" t="t" r="r" b="b"/>
            <a:pathLst>
              <a:path w="3530600" h="101600">
                <a:moveTo>
                  <a:pt x="50800" y="0"/>
                </a:moveTo>
                <a:lnTo>
                  <a:pt x="3479800" y="0"/>
                </a:lnTo>
                <a:cubicBezTo>
                  <a:pt x="3507837" y="0"/>
                  <a:pt x="3530600" y="22763"/>
                  <a:pt x="3530600" y="50800"/>
                </a:cubicBezTo>
                <a:lnTo>
                  <a:pt x="3530600" y="50800"/>
                </a:lnTo>
                <a:cubicBezTo>
                  <a:pt x="3530600" y="78837"/>
                  <a:pt x="3507837" y="101600"/>
                  <a:pt x="3479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Shape 42"/>
          <p:cNvSpPr/>
          <p:nvPr/>
        </p:nvSpPr>
        <p:spPr>
          <a:xfrm>
            <a:off x="11947676" y="3921277"/>
            <a:ext cx="2654300" cy="101600"/>
          </a:xfrm>
          <a:custGeom>
            <a:avLst/>
            <a:gdLst/>
            <a:ahLst/>
            <a:cxnLst/>
            <a:rect l="l" t="t" r="r" b="b"/>
            <a:pathLst>
              <a:path w="2654300" h="101600">
                <a:moveTo>
                  <a:pt x="50800" y="0"/>
                </a:moveTo>
                <a:lnTo>
                  <a:pt x="2603500" y="0"/>
                </a:lnTo>
                <a:cubicBezTo>
                  <a:pt x="2631537" y="0"/>
                  <a:pt x="2654300" y="22763"/>
                  <a:pt x="2654300" y="50800"/>
                </a:cubicBezTo>
                <a:lnTo>
                  <a:pt x="2654300" y="50800"/>
                </a:lnTo>
                <a:cubicBezTo>
                  <a:pt x="2654300" y="78837"/>
                  <a:pt x="2631537" y="101600"/>
                  <a:pt x="26035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5" name="Text 43"/>
          <p:cNvSpPr/>
          <p:nvPr/>
        </p:nvSpPr>
        <p:spPr>
          <a:xfrm>
            <a:off x="11947676" y="4175277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Factor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5220572" y="4175277"/>
            <a:ext cx="35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6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10x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947676" y="4480077"/>
            <a:ext cx="3530600" cy="101600"/>
          </a:xfrm>
          <a:custGeom>
            <a:avLst/>
            <a:gdLst/>
            <a:ahLst/>
            <a:cxnLst/>
            <a:rect l="l" t="t" r="r" b="b"/>
            <a:pathLst>
              <a:path w="3530600" h="101600">
                <a:moveTo>
                  <a:pt x="50800" y="0"/>
                </a:moveTo>
                <a:lnTo>
                  <a:pt x="3479800" y="0"/>
                </a:lnTo>
                <a:cubicBezTo>
                  <a:pt x="3507837" y="0"/>
                  <a:pt x="3530600" y="22763"/>
                  <a:pt x="3530600" y="50800"/>
                </a:cubicBezTo>
                <a:lnTo>
                  <a:pt x="3530600" y="50800"/>
                </a:lnTo>
                <a:cubicBezTo>
                  <a:pt x="3530600" y="78837"/>
                  <a:pt x="3507837" y="101600"/>
                  <a:pt x="3479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Shape 46"/>
          <p:cNvSpPr/>
          <p:nvPr/>
        </p:nvSpPr>
        <p:spPr>
          <a:xfrm>
            <a:off x="11947676" y="4480077"/>
            <a:ext cx="3187700" cy="101600"/>
          </a:xfrm>
          <a:custGeom>
            <a:avLst/>
            <a:gdLst/>
            <a:ahLst/>
            <a:cxnLst/>
            <a:rect l="l" t="t" r="r" b="b"/>
            <a:pathLst>
              <a:path w="3187700" h="101600">
                <a:moveTo>
                  <a:pt x="50800" y="0"/>
                </a:moveTo>
                <a:lnTo>
                  <a:pt x="3136900" y="0"/>
                </a:lnTo>
                <a:cubicBezTo>
                  <a:pt x="3164937" y="0"/>
                  <a:pt x="3187700" y="22763"/>
                  <a:pt x="3187700" y="50800"/>
                </a:cubicBezTo>
                <a:lnTo>
                  <a:pt x="3187700" y="50800"/>
                </a:lnTo>
                <a:cubicBezTo>
                  <a:pt x="3187700" y="78837"/>
                  <a:pt x="3164937" y="101600"/>
                  <a:pt x="31369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9" name="Shape 47"/>
          <p:cNvSpPr/>
          <p:nvPr/>
        </p:nvSpPr>
        <p:spPr>
          <a:xfrm>
            <a:off x="11688838" y="5104190"/>
            <a:ext cx="4048276" cy="2346476"/>
          </a:xfrm>
          <a:custGeom>
            <a:avLst/>
            <a:gdLst/>
            <a:ahLst/>
            <a:cxnLst/>
            <a:rect l="l" t="t" r="r" b="b"/>
            <a:pathLst>
              <a:path w="4048276" h="2346476">
                <a:moveTo>
                  <a:pt x="152404" y="0"/>
                </a:moveTo>
                <a:lnTo>
                  <a:pt x="3895873" y="0"/>
                </a:lnTo>
                <a:cubicBezTo>
                  <a:pt x="3980043" y="0"/>
                  <a:pt x="4048276" y="68233"/>
                  <a:pt x="4048276" y="152404"/>
                </a:cubicBezTo>
                <a:lnTo>
                  <a:pt x="4048276" y="2194073"/>
                </a:lnTo>
                <a:cubicBezTo>
                  <a:pt x="4048276" y="2278243"/>
                  <a:pt x="3980043" y="2346476"/>
                  <a:pt x="3895873" y="2346476"/>
                </a:cubicBezTo>
                <a:lnTo>
                  <a:pt x="152404" y="2346476"/>
                </a:lnTo>
                <a:cubicBezTo>
                  <a:pt x="68233" y="2346476"/>
                  <a:pt x="0" y="2278243"/>
                  <a:pt x="0" y="2194073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950851" y="542652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1" name="Text 49"/>
          <p:cNvSpPr/>
          <p:nvPr/>
        </p:nvSpPr>
        <p:spPr>
          <a:xfrm>
            <a:off x="12239776" y="5363029"/>
            <a:ext cx="335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966726" y="592182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3" name="Text 51"/>
          <p:cNvSpPr/>
          <p:nvPr/>
        </p:nvSpPr>
        <p:spPr>
          <a:xfrm>
            <a:off x="12138176" y="5871029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966726" y="627742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5" name="Text 53"/>
          <p:cNvSpPr/>
          <p:nvPr/>
        </p:nvSpPr>
        <p:spPr>
          <a:xfrm>
            <a:off x="12138176" y="6226629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Teams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966726" y="66330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7" name="Text 55"/>
          <p:cNvSpPr/>
          <p:nvPr/>
        </p:nvSpPr>
        <p:spPr>
          <a:xfrm>
            <a:off x="12138176" y="6582228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DevOps Engineers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966726" y="69886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9" name="Text 57"/>
          <p:cNvSpPr/>
          <p:nvPr/>
        </p:nvSpPr>
        <p:spPr>
          <a:xfrm>
            <a:off x="12138176" y="6937828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Teams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Current Architecture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838" y="1579638"/>
            <a:ext cx="5572276" cy="3070376"/>
          </a:xfrm>
          <a:custGeom>
            <a:avLst/>
            <a:gdLst/>
            <a:ahLst/>
            <a:cxnLst/>
            <a:rect l="l" t="t" r="r" b="b"/>
            <a:pathLst>
              <a:path w="5572276" h="3070376">
                <a:moveTo>
                  <a:pt x="152413" y="0"/>
                </a:moveTo>
                <a:lnTo>
                  <a:pt x="5419863" y="0"/>
                </a:lnTo>
                <a:cubicBezTo>
                  <a:pt x="5504038" y="0"/>
                  <a:pt x="5572276" y="68238"/>
                  <a:pt x="5572276" y="152413"/>
                </a:cubicBezTo>
                <a:lnTo>
                  <a:pt x="5572276" y="2917963"/>
                </a:lnTo>
                <a:cubicBezTo>
                  <a:pt x="5572276" y="3002138"/>
                  <a:pt x="5504038" y="3070376"/>
                  <a:pt x="5419863" y="3070376"/>
                </a:cubicBezTo>
                <a:lnTo>
                  <a:pt x="152413" y="3070376"/>
                </a:lnTo>
                <a:cubicBezTo>
                  <a:pt x="68238" y="3070376"/>
                  <a:pt x="0" y="3002138"/>
                  <a:pt x="0" y="2917963"/>
                </a:cubicBezTo>
                <a:lnTo>
                  <a:pt x="0" y="152413"/>
                </a:lnTo>
                <a:cubicBezTo>
                  <a:pt x="0" y="68294"/>
                  <a:pt x="68294" y="0"/>
                  <a:pt x="15241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876" y="18130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" name="Shape 4"/>
          <p:cNvSpPr/>
          <p:nvPr/>
        </p:nvSpPr>
        <p:spPr>
          <a:xfrm>
            <a:off x="898676" y="1965477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5400" y="0"/>
                </a:moveTo>
                <a:cubicBezTo>
                  <a:pt x="11390" y="0"/>
                  <a:pt x="0" y="11390"/>
                  <a:pt x="0" y="25400"/>
                </a:cubicBezTo>
                <a:lnTo>
                  <a:pt x="0" y="120650"/>
                </a:lnTo>
                <a:lnTo>
                  <a:pt x="72271" y="120650"/>
                </a:lnTo>
                <a:lnTo>
                  <a:pt x="59968" y="108347"/>
                </a:lnTo>
                <a:cubicBezTo>
                  <a:pt x="56237" y="104616"/>
                  <a:pt x="56237" y="98584"/>
                  <a:pt x="59968" y="94893"/>
                </a:cubicBezTo>
                <a:cubicBezTo>
                  <a:pt x="63698" y="91202"/>
                  <a:pt x="69731" y="91162"/>
                  <a:pt x="73422" y="94893"/>
                </a:cubicBezTo>
                <a:lnTo>
                  <a:pt x="101997" y="123468"/>
                </a:lnTo>
                <a:cubicBezTo>
                  <a:pt x="105727" y="127198"/>
                  <a:pt x="105727" y="133231"/>
                  <a:pt x="101997" y="136922"/>
                </a:cubicBezTo>
                <a:lnTo>
                  <a:pt x="73422" y="165497"/>
                </a:lnTo>
                <a:cubicBezTo>
                  <a:pt x="69691" y="169227"/>
                  <a:pt x="63659" y="169227"/>
                  <a:pt x="59968" y="165497"/>
                </a:cubicBezTo>
                <a:cubicBezTo>
                  <a:pt x="56277" y="161766"/>
                  <a:pt x="56237" y="155734"/>
                  <a:pt x="59968" y="152043"/>
                </a:cubicBezTo>
                <a:lnTo>
                  <a:pt x="72271" y="139740"/>
                </a:lnTo>
                <a:lnTo>
                  <a:pt x="0" y="139740"/>
                </a:lnTo>
                <a:lnTo>
                  <a:pt x="0" y="177840"/>
                </a:lnTo>
                <a:cubicBezTo>
                  <a:pt x="0" y="191849"/>
                  <a:pt x="11390" y="203240"/>
                  <a:pt x="25400" y="203240"/>
                </a:cubicBezTo>
                <a:lnTo>
                  <a:pt x="127000" y="203240"/>
                </a:lnTo>
                <a:cubicBezTo>
                  <a:pt x="141010" y="203240"/>
                  <a:pt x="152400" y="191849"/>
                  <a:pt x="152400" y="177840"/>
                </a:cubicBezTo>
                <a:lnTo>
                  <a:pt x="152400" y="67707"/>
                </a:lnTo>
                <a:cubicBezTo>
                  <a:pt x="152400" y="60960"/>
                  <a:pt x="149741" y="54491"/>
                  <a:pt x="144978" y="49728"/>
                </a:cubicBezTo>
                <a:lnTo>
                  <a:pt x="102672" y="7422"/>
                </a:lnTo>
                <a:cubicBezTo>
                  <a:pt x="97909" y="2659"/>
                  <a:pt x="91480" y="0"/>
                  <a:pt x="84733" y="0"/>
                </a:cubicBezTo>
                <a:lnTo>
                  <a:pt x="25400" y="0"/>
                </a:lnTo>
                <a:close/>
                <a:moveTo>
                  <a:pt x="129183" y="69850"/>
                </a:moveTo>
                <a:lnTo>
                  <a:pt x="92075" y="69850"/>
                </a:lnTo>
                <a:cubicBezTo>
                  <a:pt x="86797" y="69850"/>
                  <a:pt x="82550" y="65603"/>
                  <a:pt x="82550" y="60325"/>
                </a:cubicBezTo>
                <a:lnTo>
                  <a:pt x="82550" y="23217"/>
                </a:lnTo>
                <a:lnTo>
                  <a:pt x="129183" y="6985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381276" y="1787677"/>
            <a:ext cx="185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 Service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1276" y="2143277"/>
            <a:ext cx="181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Ingestion &amp; Mapping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0876" y="2498877"/>
            <a:ext cx="5245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Config-driven service that maps incoming JSON/XML/CSV data to database columns using static mapping configurations.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0876" y="4139369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50801" y="0"/>
                </a:moveTo>
                <a:lnTo>
                  <a:pt x="482599" y="0"/>
                </a:lnTo>
                <a:cubicBezTo>
                  <a:pt x="510656" y="0"/>
                  <a:pt x="533400" y="22744"/>
                  <a:pt x="533400" y="50801"/>
                </a:cubicBezTo>
                <a:lnTo>
                  <a:pt x="533400" y="253999"/>
                </a:lnTo>
                <a:cubicBezTo>
                  <a:pt x="533400" y="282056"/>
                  <a:pt x="510656" y="304800"/>
                  <a:pt x="4825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20876" y="4139369"/>
            <a:ext cx="6096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61168" y="4139369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50801" y="0"/>
                </a:moveTo>
                <a:lnTo>
                  <a:pt x="507999" y="0"/>
                </a:lnTo>
                <a:cubicBezTo>
                  <a:pt x="536056" y="0"/>
                  <a:pt x="558800" y="22744"/>
                  <a:pt x="558800" y="50801"/>
                </a:cubicBezTo>
                <a:lnTo>
                  <a:pt x="558800" y="253999"/>
                </a:lnTo>
                <a:cubicBezTo>
                  <a:pt x="558800" y="282056"/>
                  <a:pt x="536056" y="304800"/>
                  <a:pt x="507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61168" y="4139369"/>
            <a:ext cx="635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Kafka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26557" y="4139369"/>
            <a:ext cx="1143000" cy="304800"/>
          </a:xfrm>
          <a:custGeom>
            <a:avLst/>
            <a:gdLst/>
            <a:ahLst/>
            <a:cxnLst/>
            <a:rect l="l" t="t" r="r" b="b"/>
            <a:pathLst>
              <a:path w="1143000" h="304800">
                <a:moveTo>
                  <a:pt x="50801" y="0"/>
                </a:moveTo>
                <a:lnTo>
                  <a:pt x="1092199" y="0"/>
                </a:lnTo>
                <a:cubicBezTo>
                  <a:pt x="1120256" y="0"/>
                  <a:pt x="1143000" y="22744"/>
                  <a:pt x="1143000" y="50801"/>
                </a:cubicBezTo>
                <a:lnTo>
                  <a:pt x="1143000" y="253999"/>
                </a:lnTo>
                <a:cubicBezTo>
                  <a:pt x="1143000" y="282056"/>
                  <a:pt x="1120256" y="304800"/>
                  <a:pt x="1092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026557" y="4139369"/>
            <a:ext cx="1219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Config-Driven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4038" y="1579638"/>
            <a:ext cx="5572276" cy="3070376"/>
          </a:xfrm>
          <a:custGeom>
            <a:avLst/>
            <a:gdLst/>
            <a:ahLst/>
            <a:cxnLst/>
            <a:rect l="l" t="t" r="r" b="b"/>
            <a:pathLst>
              <a:path w="5572276" h="3070376">
                <a:moveTo>
                  <a:pt x="152413" y="0"/>
                </a:moveTo>
                <a:lnTo>
                  <a:pt x="5419863" y="0"/>
                </a:lnTo>
                <a:cubicBezTo>
                  <a:pt x="5504038" y="0"/>
                  <a:pt x="5572276" y="68238"/>
                  <a:pt x="5572276" y="152413"/>
                </a:cubicBezTo>
                <a:lnTo>
                  <a:pt x="5572276" y="2917963"/>
                </a:lnTo>
                <a:cubicBezTo>
                  <a:pt x="5572276" y="3002138"/>
                  <a:pt x="5504038" y="3070376"/>
                  <a:pt x="5419863" y="3070376"/>
                </a:cubicBezTo>
                <a:lnTo>
                  <a:pt x="152413" y="3070376"/>
                </a:lnTo>
                <a:cubicBezTo>
                  <a:pt x="68238" y="3070376"/>
                  <a:pt x="0" y="3002138"/>
                  <a:pt x="0" y="2917963"/>
                </a:cubicBezTo>
                <a:lnTo>
                  <a:pt x="0" y="152413"/>
                </a:lnTo>
                <a:cubicBezTo>
                  <a:pt x="0" y="68294"/>
                  <a:pt x="68294" y="0"/>
                  <a:pt x="15241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2076" y="18130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Shape 16"/>
          <p:cNvSpPr/>
          <p:nvPr/>
        </p:nvSpPr>
        <p:spPr>
          <a:xfrm>
            <a:off x="6664476" y="196547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31750"/>
                </a:moveTo>
                <a:cubicBezTo>
                  <a:pt x="0" y="21233"/>
                  <a:pt x="8533" y="12700"/>
                  <a:pt x="19050" y="12700"/>
                </a:cubicBezTo>
                <a:lnTo>
                  <a:pt x="57150" y="12700"/>
                </a:lnTo>
                <a:cubicBezTo>
                  <a:pt x="67667" y="12700"/>
                  <a:pt x="76200" y="21233"/>
                  <a:pt x="76200" y="31750"/>
                </a:cubicBezTo>
                <a:lnTo>
                  <a:pt x="76200" y="38100"/>
                </a:lnTo>
                <a:lnTo>
                  <a:pt x="127000" y="38100"/>
                </a:lnTo>
                <a:lnTo>
                  <a:pt x="127000" y="31750"/>
                </a:lnTo>
                <a:cubicBezTo>
                  <a:pt x="127000" y="21233"/>
                  <a:pt x="135533" y="12700"/>
                  <a:pt x="146050" y="12700"/>
                </a:cubicBezTo>
                <a:lnTo>
                  <a:pt x="184150" y="12700"/>
                </a:lnTo>
                <a:cubicBezTo>
                  <a:pt x="194667" y="12700"/>
                  <a:pt x="203200" y="21233"/>
                  <a:pt x="203200" y="31750"/>
                </a:cubicBezTo>
                <a:lnTo>
                  <a:pt x="203200" y="69850"/>
                </a:lnTo>
                <a:cubicBezTo>
                  <a:pt x="203200" y="80367"/>
                  <a:pt x="194667" y="88900"/>
                  <a:pt x="184150" y="88900"/>
                </a:cubicBezTo>
                <a:lnTo>
                  <a:pt x="146050" y="88900"/>
                </a:lnTo>
                <a:cubicBezTo>
                  <a:pt x="135533" y="88900"/>
                  <a:pt x="127000" y="80367"/>
                  <a:pt x="127000" y="69850"/>
                </a:cubicBezTo>
                <a:lnTo>
                  <a:pt x="127000" y="63500"/>
                </a:lnTo>
                <a:lnTo>
                  <a:pt x="76200" y="63500"/>
                </a:lnTo>
                <a:lnTo>
                  <a:pt x="76200" y="69850"/>
                </a:lnTo>
                <a:cubicBezTo>
                  <a:pt x="76200" y="72747"/>
                  <a:pt x="75525" y="75525"/>
                  <a:pt x="74374" y="77986"/>
                </a:cubicBezTo>
                <a:lnTo>
                  <a:pt x="101600" y="114300"/>
                </a:lnTo>
                <a:lnTo>
                  <a:pt x="133350" y="114300"/>
                </a:lnTo>
                <a:cubicBezTo>
                  <a:pt x="143867" y="114300"/>
                  <a:pt x="152400" y="122833"/>
                  <a:pt x="152400" y="133350"/>
                </a:cubicBezTo>
                <a:lnTo>
                  <a:pt x="152400" y="171450"/>
                </a:lnTo>
                <a:cubicBezTo>
                  <a:pt x="152400" y="181967"/>
                  <a:pt x="143867" y="190500"/>
                  <a:pt x="133350" y="190500"/>
                </a:cubicBezTo>
                <a:lnTo>
                  <a:pt x="95250" y="190500"/>
                </a:lnTo>
                <a:cubicBezTo>
                  <a:pt x="84733" y="190500"/>
                  <a:pt x="76200" y="181967"/>
                  <a:pt x="76200" y="171450"/>
                </a:cubicBezTo>
                <a:lnTo>
                  <a:pt x="76200" y="133350"/>
                </a:lnTo>
                <a:cubicBezTo>
                  <a:pt x="76200" y="130453"/>
                  <a:pt x="76875" y="127675"/>
                  <a:pt x="78026" y="125214"/>
                </a:cubicBezTo>
                <a:lnTo>
                  <a:pt x="50800" y="88900"/>
                </a:lnTo>
                <a:lnTo>
                  <a:pt x="19050" y="88900"/>
                </a:lnTo>
                <a:cubicBezTo>
                  <a:pt x="8533" y="88900"/>
                  <a:pt x="0" y="80367"/>
                  <a:pt x="0" y="69850"/>
                </a:cubicBezTo>
                <a:lnTo>
                  <a:pt x="0" y="3175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7172476" y="1787677"/>
            <a:ext cx="189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Service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2476" y="2143277"/>
            <a:ext cx="185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BPMN Workflow Engine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2076" y="2498877"/>
            <a:ext cx="5245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Activiti-based workflow engine using BPMN files. Handles workflow initiation, task actions, and process management.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12076" y="4139369"/>
            <a:ext cx="660400" cy="304800"/>
          </a:xfrm>
          <a:custGeom>
            <a:avLst/>
            <a:gdLst/>
            <a:ahLst/>
            <a:cxnLst/>
            <a:rect l="l" t="t" r="r" b="b"/>
            <a:pathLst>
              <a:path w="660400" h="304800">
                <a:moveTo>
                  <a:pt x="50801" y="0"/>
                </a:moveTo>
                <a:lnTo>
                  <a:pt x="609599" y="0"/>
                </a:lnTo>
                <a:cubicBezTo>
                  <a:pt x="637656" y="0"/>
                  <a:pt x="660400" y="22744"/>
                  <a:pt x="660400" y="50801"/>
                </a:cubicBezTo>
                <a:lnTo>
                  <a:pt x="660400" y="253999"/>
                </a:lnTo>
                <a:cubicBezTo>
                  <a:pt x="660400" y="282056"/>
                  <a:pt x="637656" y="304800"/>
                  <a:pt x="6095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12076" y="4139369"/>
            <a:ext cx="7366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69087" y="4139369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50801" y="0"/>
                </a:moveTo>
                <a:lnTo>
                  <a:pt x="558799" y="0"/>
                </a:lnTo>
                <a:cubicBezTo>
                  <a:pt x="586856" y="0"/>
                  <a:pt x="609600" y="22744"/>
                  <a:pt x="609600" y="50801"/>
                </a:cubicBezTo>
                <a:lnTo>
                  <a:pt x="609600" y="253999"/>
                </a:lnTo>
                <a:cubicBezTo>
                  <a:pt x="609600" y="282056"/>
                  <a:pt x="586856" y="304800"/>
                  <a:pt x="5587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269087" y="4139369"/>
            <a:ext cx="6858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BPMN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75525" y="4139369"/>
            <a:ext cx="1079500" cy="304800"/>
          </a:xfrm>
          <a:custGeom>
            <a:avLst/>
            <a:gdLst/>
            <a:ahLst/>
            <a:cxnLst/>
            <a:rect l="l" t="t" r="r" b="b"/>
            <a:pathLst>
              <a:path w="1079500" h="304800">
                <a:moveTo>
                  <a:pt x="50801" y="0"/>
                </a:moveTo>
                <a:lnTo>
                  <a:pt x="1028699" y="0"/>
                </a:lnTo>
                <a:cubicBezTo>
                  <a:pt x="1056756" y="0"/>
                  <a:pt x="1079500" y="22744"/>
                  <a:pt x="1079500" y="50801"/>
                </a:cubicBezTo>
                <a:lnTo>
                  <a:pt x="1079500" y="253999"/>
                </a:lnTo>
                <a:cubicBezTo>
                  <a:pt x="1079500" y="282056"/>
                  <a:pt x="1056756" y="304800"/>
                  <a:pt x="10286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975525" y="4139369"/>
            <a:ext cx="11557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2838" y="4865084"/>
            <a:ext cx="5572276" cy="3070376"/>
          </a:xfrm>
          <a:custGeom>
            <a:avLst/>
            <a:gdLst/>
            <a:ahLst/>
            <a:cxnLst/>
            <a:rect l="l" t="t" r="r" b="b"/>
            <a:pathLst>
              <a:path w="5572276" h="3070376">
                <a:moveTo>
                  <a:pt x="152413" y="0"/>
                </a:moveTo>
                <a:lnTo>
                  <a:pt x="5419863" y="0"/>
                </a:lnTo>
                <a:cubicBezTo>
                  <a:pt x="5504038" y="0"/>
                  <a:pt x="5572276" y="68238"/>
                  <a:pt x="5572276" y="152413"/>
                </a:cubicBezTo>
                <a:lnTo>
                  <a:pt x="5572276" y="2917963"/>
                </a:lnTo>
                <a:cubicBezTo>
                  <a:pt x="5572276" y="3002138"/>
                  <a:pt x="5504038" y="3070376"/>
                  <a:pt x="5419863" y="3070376"/>
                </a:cubicBezTo>
                <a:lnTo>
                  <a:pt x="152413" y="3070376"/>
                </a:lnTo>
                <a:cubicBezTo>
                  <a:pt x="68238" y="3070376"/>
                  <a:pt x="0" y="3002138"/>
                  <a:pt x="0" y="2917963"/>
                </a:cubicBezTo>
                <a:lnTo>
                  <a:pt x="0" y="152413"/>
                </a:lnTo>
                <a:cubicBezTo>
                  <a:pt x="0" y="68294"/>
                  <a:pt x="68294" y="0"/>
                  <a:pt x="15241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0876" y="509852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0" name="Shape 28"/>
          <p:cNvSpPr/>
          <p:nvPr/>
        </p:nvSpPr>
        <p:spPr>
          <a:xfrm>
            <a:off x="873276" y="525092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3102" y="14407"/>
                </a:moveTo>
                <a:cubicBezTo>
                  <a:pt x="57428" y="17423"/>
                  <a:pt x="58460" y="23376"/>
                  <a:pt x="55443" y="27662"/>
                </a:cubicBezTo>
                <a:lnTo>
                  <a:pt x="33218" y="59412"/>
                </a:lnTo>
                <a:cubicBezTo>
                  <a:pt x="31591" y="61714"/>
                  <a:pt x="29051" y="63182"/>
                  <a:pt x="26233" y="63421"/>
                </a:cubicBezTo>
                <a:cubicBezTo>
                  <a:pt x="23416" y="63659"/>
                  <a:pt x="20638" y="62706"/>
                  <a:pt x="18653" y="60722"/>
                </a:cubicBezTo>
                <a:lnTo>
                  <a:pt x="2778" y="44847"/>
                </a:lnTo>
                <a:cubicBezTo>
                  <a:pt x="-913" y="41116"/>
                  <a:pt x="-913" y="35084"/>
                  <a:pt x="2778" y="31353"/>
                </a:cubicBezTo>
                <a:cubicBezTo>
                  <a:pt x="6469" y="27622"/>
                  <a:pt x="12541" y="27662"/>
                  <a:pt x="16272" y="31353"/>
                </a:cubicBezTo>
                <a:lnTo>
                  <a:pt x="24130" y="39211"/>
                </a:lnTo>
                <a:lnTo>
                  <a:pt x="39846" y="16748"/>
                </a:lnTo>
                <a:cubicBezTo>
                  <a:pt x="42863" y="12422"/>
                  <a:pt x="48816" y="11390"/>
                  <a:pt x="53102" y="14407"/>
                </a:cubicBezTo>
                <a:close/>
                <a:moveTo>
                  <a:pt x="53102" y="77907"/>
                </a:moveTo>
                <a:cubicBezTo>
                  <a:pt x="57428" y="80923"/>
                  <a:pt x="58460" y="86876"/>
                  <a:pt x="55443" y="91162"/>
                </a:cubicBezTo>
                <a:lnTo>
                  <a:pt x="33218" y="122912"/>
                </a:lnTo>
                <a:cubicBezTo>
                  <a:pt x="31591" y="125214"/>
                  <a:pt x="29051" y="126683"/>
                  <a:pt x="26233" y="126921"/>
                </a:cubicBezTo>
                <a:cubicBezTo>
                  <a:pt x="23416" y="127159"/>
                  <a:pt x="20638" y="126206"/>
                  <a:pt x="18653" y="124222"/>
                </a:cubicBezTo>
                <a:lnTo>
                  <a:pt x="2778" y="108347"/>
                </a:lnTo>
                <a:cubicBezTo>
                  <a:pt x="-953" y="104616"/>
                  <a:pt x="-953" y="98584"/>
                  <a:pt x="2778" y="94893"/>
                </a:cubicBezTo>
                <a:cubicBezTo>
                  <a:pt x="6509" y="91202"/>
                  <a:pt x="12541" y="91162"/>
                  <a:pt x="16232" y="94893"/>
                </a:cubicBezTo>
                <a:lnTo>
                  <a:pt x="24090" y="102751"/>
                </a:lnTo>
                <a:lnTo>
                  <a:pt x="39807" y="80288"/>
                </a:lnTo>
                <a:cubicBezTo>
                  <a:pt x="42823" y="75962"/>
                  <a:pt x="48776" y="74930"/>
                  <a:pt x="53062" y="77946"/>
                </a:cubicBezTo>
                <a:close/>
                <a:moveTo>
                  <a:pt x="88900" y="38100"/>
                </a:moveTo>
                <a:cubicBezTo>
                  <a:pt x="88900" y="31075"/>
                  <a:pt x="94575" y="25400"/>
                  <a:pt x="101600" y="25400"/>
                </a:cubicBezTo>
                <a:lnTo>
                  <a:pt x="190500" y="25400"/>
                </a:lnTo>
                <a:cubicBezTo>
                  <a:pt x="197525" y="25400"/>
                  <a:pt x="203200" y="31075"/>
                  <a:pt x="203200" y="38100"/>
                </a:cubicBezTo>
                <a:cubicBezTo>
                  <a:pt x="203200" y="45125"/>
                  <a:pt x="197525" y="50800"/>
                  <a:pt x="190500" y="50800"/>
                </a:cubicBezTo>
                <a:lnTo>
                  <a:pt x="101600" y="50800"/>
                </a:lnTo>
                <a:cubicBezTo>
                  <a:pt x="94575" y="50800"/>
                  <a:pt x="88900" y="45125"/>
                  <a:pt x="88900" y="38100"/>
                </a:cubicBezTo>
                <a:close/>
                <a:moveTo>
                  <a:pt x="88900" y="101600"/>
                </a:moveTo>
                <a:cubicBezTo>
                  <a:pt x="88900" y="94575"/>
                  <a:pt x="94575" y="88900"/>
                  <a:pt x="101600" y="88900"/>
                </a:cubicBezTo>
                <a:lnTo>
                  <a:pt x="190500" y="88900"/>
                </a:lnTo>
                <a:cubicBezTo>
                  <a:pt x="197525" y="88900"/>
                  <a:pt x="203200" y="94575"/>
                  <a:pt x="203200" y="101600"/>
                </a:cubicBezTo>
                <a:cubicBezTo>
                  <a:pt x="203200" y="108625"/>
                  <a:pt x="197525" y="114300"/>
                  <a:pt x="190500" y="114300"/>
                </a:cubicBezTo>
                <a:lnTo>
                  <a:pt x="101600" y="114300"/>
                </a:lnTo>
                <a:cubicBezTo>
                  <a:pt x="94575" y="114300"/>
                  <a:pt x="88900" y="108625"/>
                  <a:pt x="88900" y="101600"/>
                </a:cubicBezTo>
                <a:close/>
                <a:moveTo>
                  <a:pt x="63500" y="165100"/>
                </a:moveTo>
                <a:cubicBezTo>
                  <a:pt x="63500" y="158075"/>
                  <a:pt x="69175" y="152400"/>
                  <a:pt x="76200" y="152400"/>
                </a:cubicBezTo>
                <a:lnTo>
                  <a:pt x="190500" y="152400"/>
                </a:lnTo>
                <a:cubicBezTo>
                  <a:pt x="197525" y="152400"/>
                  <a:pt x="203200" y="158075"/>
                  <a:pt x="203200" y="165100"/>
                </a:cubicBezTo>
                <a:cubicBezTo>
                  <a:pt x="203200" y="172125"/>
                  <a:pt x="197525" y="177800"/>
                  <a:pt x="190500" y="177800"/>
                </a:cubicBezTo>
                <a:lnTo>
                  <a:pt x="76200" y="177800"/>
                </a:lnTo>
                <a:cubicBezTo>
                  <a:pt x="69175" y="177800"/>
                  <a:pt x="63500" y="172125"/>
                  <a:pt x="63500" y="165100"/>
                </a:cubicBezTo>
                <a:close/>
                <a:moveTo>
                  <a:pt x="25400" y="149225"/>
                </a:moveTo>
                <a:cubicBezTo>
                  <a:pt x="34162" y="149225"/>
                  <a:pt x="41275" y="156338"/>
                  <a:pt x="41275" y="165100"/>
                </a:cubicBezTo>
                <a:cubicBezTo>
                  <a:pt x="41275" y="173862"/>
                  <a:pt x="34162" y="180975"/>
                  <a:pt x="25400" y="180975"/>
                </a:cubicBezTo>
                <a:cubicBezTo>
                  <a:pt x="16638" y="180975"/>
                  <a:pt x="9525" y="173862"/>
                  <a:pt x="9525" y="165100"/>
                </a:cubicBezTo>
                <a:cubicBezTo>
                  <a:pt x="9525" y="156338"/>
                  <a:pt x="16638" y="149225"/>
                  <a:pt x="25400" y="1492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1381276" y="5073123"/>
            <a:ext cx="191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Service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81276" y="5428723"/>
            <a:ext cx="187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Task Management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0876" y="5784323"/>
            <a:ext cx="5245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independent business tasks and maps them to cases. Manages task lifecycle and assignments.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0876" y="7424815"/>
            <a:ext cx="939800" cy="304800"/>
          </a:xfrm>
          <a:custGeom>
            <a:avLst/>
            <a:gdLst/>
            <a:ahLst/>
            <a:cxnLst/>
            <a:rect l="l" t="t" r="r" b="b"/>
            <a:pathLst>
              <a:path w="939800" h="304800">
                <a:moveTo>
                  <a:pt x="50801" y="0"/>
                </a:moveTo>
                <a:lnTo>
                  <a:pt x="888999" y="0"/>
                </a:lnTo>
                <a:cubicBezTo>
                  <a:pt x="917056" y="0"/>
                  <a:pt x="939800" y="22744"/>
                  <a:pt x="939800" y="50801"/>
                </a:cubicBezTo>
                <a:lnTo>
                  <a:pt x="939800" y="253999"/>
                </a:lnTo>
                <a:cubicBezTo>
                  <a:pt x="939800" y="282056"/>
                  <a:pt x="917056" y="304800"/>
                  <a:pt x="888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20876" y="7424815"/>
            <a:ext cx="1016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CRUD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760311" y="7424815"/>
            <a:ext cx="1130300" cy="304800"/>
          </a:xfrm>
          <a:custGeom>
            <a:avLst/>
            <a:gdLst/>
            <a:ahLst/>
            <a:cxnLst/>
            <a:rect l="l" t="t" r="r" b="b"/>
            <a:pathLst>
              <a:path w="1130300" h="304800">
                <a:moveTo>
                  <a:pt x="50801" y="0"/>
                </a:moveTo>
                <a:lnTo>
                  <a:pt x="1079499" y="0"/>
                </a:lnTo>
                <a:cubicBezTo>
                  <a:pt x="1107556" y="0"/>
                  <a:pt x="1130300" y="22744"/>
                  <a:pt x="1130300" y="50801"/>
                </a:cubicBezTo>
                <a:lnTo>
                  <a:pt x="1130300" y="253999"/>
                </a:lnTo>
                <a:cubicBezTo>
                  <a:pt x="1130300" y="282056"/>
                  <a:pt x="1107556" y="304800"/>
                  <a:pt x="10794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760311" y="7424815"/>
            <a:ext cx="12065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 Mapping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04038" y="4865084"/>
            <a:ext cx="5572276" cy="3070376"/>
          </a:xfrm>
          <a:custGeom>
            <a:avLst/>
            <a:gdLst/>
            <a:ahLst/>
            <a:cxnLst/>
            <a:rect l="l" t="t" r="r" b="b"/>
            <a:pathLst>
              <a:path w="5572276" h="3070376">
                <a:moveTo>
                  <a:pt x="152413" y="0"/>
                </a:moveTo>
                <a:lnTo>
                  <a:pt x="5419863" y="0"/>
                </a:lnTo>
                <a:cubicBezTo>
                  <a:pt x="5504038" y="0"/>
                  <a:pt x="5572276" y="68238"/>
                  <a:pt x="5572276" y="152413"/>
                </a:cubicBezTo>
                <a:lnTo>
                  <a:pt x="5572276" y="2917963"/>
                </a:lnTo>
                <a:cubicBezTo>
                  <a:pt x="5572276" y="3002138"/>
                  <a:pt x="5504038" y="3070376"/>
                  <a:pt x="5419863" y="3070376"/>
                </a:cubicBezTo>
                <a:lnTo>
                  <a:pt x="152413" y="3070376"/>
                </a:lnTo>
                <a:cubicBezTo>
                  <a:pt x="68238" y="3070376"/>
                  <a:pt x="0" y="3002138"/>
                  <a:pt x="0" y="2917963"/>
                </a:cubicBezTo>
                <a:lnTo>
                  <a:pt x="0" y="152413"/>
                </a:lnTo>
                <a:cubicBezTo>
                  <a:pt x="0" y="68294"/>
                  <a:pt x="68294" y="0"/>
                  <a:pt x="15241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2076" y="509852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Shape 38"/>
          <p:cNvSpPr/>
          <p:nvPr/>
        </p:nvSpPr>
        <p:spPr>
          <a:xfrm>
            <a:off x="6677176" y="5250923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01600" y="63500"/>
                </a:moveTo>
                <a:lnTo>
                  <a:pt x="101600" y="101600"/>
                </a:lnTo>
                <a:lnTo>
                  <a:pt x="152400" y="101600"/>
                </a:lnTo>
                <a:lnTo>
                  <a:pt x="152400" y="63500"/>
                </a:lnTo>
                <a:lnTo>
                  <a:pt x="101600" y="63500"/>
                </a:lnTo>
                <a:close/>
                <a:moveTo>
                  <a:pt x="76200" y="63500"/>
                </a:moveTo>
                <a:lnTo>
                  <a:pt x="2540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76200" y="63500"/>
                </a:lnTo>
                <a:close/>
                <a:moveTo>
                  <a:pt x="0" y="127000"/>
                </a:moveTo>
                <a:lnTo>
                  <a:pt x="0" y="38100"/>
                </a:lnTo>
                <a:cubicBezTo>
                  <a:pt x="0" y="24090"/>
                  <a:pt x="11390" y="12700"/>
                  <a:pt x="25400" y="12700"/>
                </a:cubicBezTo>
                <a:lnTo>
                  <a:pt x="152400" y="12700"/>
                </a:lnTo>
                <a:cubicBezTo>
                  <a:pt x="166410" y="12700"/>
                  <a:pt x="177800" y="24090"/>
                  <a:pt x="177800" y="38100"/>
                </a:cubicBezTo>
                <a:lnTo>
                  <a:pt x="177800" y="165100"/>
                </a:lnTo>
                <a:cubicBezTo>
                  <a:pt x="177800" y="179110"/>
                  <a:pt x="166410" y="190500"/>
                  <a:pt x="152400" y="190500"/>
                </a:cubicBezTo>
                <a:lnTo>
                  <a:pt x="25400" y="190500"/>
                </a:lnTo>
                <a:cubicBezTo>
                  <a:pt x="11390" y="190500"/>
                  <a:pt x="0" y="179110"/>
                  <a:pt x="0" y="165100"/>
                </a:cubicBezTo>
                <a:lnTo>
                  <a:pt x="0" y="127000"/>
                </a:lnTo>
                <a:close/>
                <a:moveTo>
                  <a:pt x="152400" y="127000"/>
                </a:moveTo>
                <a:lnTo>
                  <a:pt x="101600" y="127000"/>
                </a:lnTo>
                <a:lnTo>
                  <a:pt x="101600" y="165100"/>
                </a:lnTo>
                <a:lnTo>
                  <a:pt x="152400" y="165100"/>
                </a:lnTo>
                <a:lnTo>
                  <a:pt x="152400" y="127000"/>
                </a:lnTo>
                <a:close/>
                <a:moveTo>
                  <a:pt x="76200" y="165100"/>
                </a:moveTo>
                <a:lnTo>
                  <a:pt x="76200" y="127000"/>
                </a:lnTo>
                <a:lnTo>
                  <a:pt x="25400" y="127000"/>
                </a:lnTo>
                <a:lnTo>
                  <a:pt x="25400" y="165100"/>
                </a:lnTo>
                <a:lnTo>
                  <a:pt x="76200" y="16510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Text 39"/>
          <p:cNvSpPr/>
          <p:nvPr/>
        </p:nvSpPr>
        <p:spPr>
          <a:xfrm>
            <a:off x="7172476" y="5073123"/>
            <a:ext cx="193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View Service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72476" y="5428723"/>
            <a:ext cx="1892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Data Provider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12076" y="5784323"/>
            <a:ext cx="5245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Config-driven service fetching case data with pagination, sorting, filtering, and role-based permissions.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12076" y="7424815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50801" y="0"/>
                </a:moveTo>
                <a:lnTo>
                  <a:pt x="825499" y="0"/>
                </a:lnTo>
                <a:cubicBezTo>
                  <a:pt x="853556" y="0"/>
                  <a:pt x="876300" y="22744"/>
                  <a:pt x="876300" y="50801"/>
                </a:cubicBezTo>
                <a:lnTo>
                  <a:pt x="876300" y="253999"/>
                </a:lnTo>
                <a:cubicBezTo>
                  <a:pt x="876300" y="282056"/>
                  <a:pt x="853556" y="304800"/>
                  <a:pt x="8254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512076" y="7424815"/>
            <a:ext cx="9525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Pagination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94966" y="7424815"/>
            <a:ext cx="723900" cy="304800"/>
          </a:xfrm>
          <a:custGeom>
            <a:avLst/>
            <a:gdLst/>
            <a:ahLst/>
            <a:cxnLst/>
            <a:rect l="l" t="t" r="r" b="b"/>
            <a:pathLst>
              <a:path w="723900" h="304800">
                <a:moveTo>
                  <a:pt x="50801" y="0"/>
                </a:moveTo>
                <a:lnTo>
                  <a:pt x="673099" y="0"/>
                </a:lnTo>
                <a:cubicBezTo>
                  <a:pt x="701156" y="0"/>
                  <a:pt x="723900" y="22744"/>
                  <a:pt x="723900" y="50801"/>
                </a:cubicBezTo>
                <a:lnTo>
                  <a:pt x="723900" y="253999"/>
                </a:lnTo>
                <a:cubicBezTo>
                  <a:pt x="723900" y="282056"/>
                  <a:pt x="701156" y="304800"/>
                  <a:pt x="673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494966" y="7424815"/>
            <a:ext cx="800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19483" y="7424815"/>
            <a:ext cx="571500" cy="304800"/>
          </a:xfrm>
          <a:custGeom>
            <a:avLst/>
            <a:gdLst/>
            <a:ahLst/>
            <a:cxnLst/>
            <a:rect l="l" t="t" r="r" b="b"/>
            <a:pathLst>
              <a:path w="571500" h="304800">
                <a:moveTo>
                  <a:pt x="50801" y="0"/>
                </a:moveTo>
                <a:lnTo>
                  <a:pt x="520699" y="0"/>
                </a:lnTo>
                <a:cubicBezTo>
                  <a:pt x="548756" y="0"/>
                  <a:pt x="571500" y="22744"/>
                  <a:pt x="571500" y="50801"/>
                </a:cubicBezTo>
                <a:lnTo>
                  <a:pt x="571500" y="253999"/>
                </a:lnTo>
                <a:cubicBezTo>
                  <a:pt x="571500" y="282056"/>
                  <a:pt x="548756" y="304800"/>
                  <a:pt x="5206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319483" y="7424815"/>
            <a:ext cx="6477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RBAC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12838" y="8150527"/>
            <a:ext cx="5572276" cy="3070376"/>
          </a:xfrm>
          <a:custGeom>
            <a:avLst/>
            <a:gdLst/>
            <a:ahLst/>
            <a:cxnLst/>
            <a:rect l="l" t="t" r="r" b="b"/>
            <a:pathLst>
              <a:path w="5572276" h="3070376">
                <a:moveTo>
                  <a:pt x="152413" y="0"/>
                </a:moveTo>
                <a:lnTo>
                  <a:pt x="5419863" y="0"/>
                </a:lnTo>
                <a:cubicBezTo>
                  <a:pt x="5504038" y="0"/>
                  <a:pt x="5572276" y="68238"/>
                  <a:pt x="5572276" y="152413"/>
                </a:cubicBezTo>
                <a:lnTo>
                  <a:pt x="5572276" y="2917963"/>
                </a:lnTo>
                <a:cubicBezTo>
                  <a:pt x="5572276" y="3002138"/>
                  <a:pt x="5504038" y="3070376"/>
                  <a:pt x="5419863" y="3070376"/>
                </a:cubicBezTo>
                <a:lnTo>
                  <a:pt x="152413" y="3070376"/>
                </a:lnTo>
                <a:cubicBezTo>
                  <a:pt x="68238" y="3070376"/>
                  <a:pt x="0" y="3002138"/>
                  <a:pt x="0" y="2917963"/>
                </a:cubicBezTo>
                <a:lnTo>
                  <a:pt x="0" y="152413"/>
                </a:lnTo>
                <a:cubicBezTo>
                  <a:pt x="0" y="68294"/>
                  <a:pt x="68294" y="0"/>
                  <a:pt x="15241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0876" y="838396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2" name="Shape 50"/>
          <p:cNvSpPr/>
          <p:nvPr/>
        </p:nvSpPr>
        <p:spPr>
          <a:xfrm>
            <a:off x="885976" y="8536366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30678" y="992"/>
                </a:moveTo>
                <a:cubicBezTo>
                  <a:pt x="33893" y="-635"/>
                  <a:pt x="37782" y="-278"/>
                  <a:pt x="40640" y="1905"/>
                </a:cubicBezTo>
                <a:lnTo>
                  <a:pt x="167640" y="97115"/>
                </a:lnTo>
                <a:cubicBezTo>
                  <a:pt x="170934" y="99576"/>
                  <a:pt x="172244" y="103862"/>
                  <a:pt x="170974" y="107752"/>
                </a:cubicBezTo>
                <a:cubicBezTo>
                  <a:pt x="169704" y="111641"/>
                  <a:pt x="166053" y="114260"/>
                  <a:pt x="161925" y="114260"/>
                </a:cubicBezTo>
                <a:lnTo>
                  <a:pt x="101481" y="114260"/>
                </a:lnTo>
                <a:lnTo>
                  <a:pt x="136763" y="184785"/>
                </a:lnTo>
                <a:cubicBezTo>
                  <a:pt x="139898" y="191056"/>
                  <a:pt x="137358" y="198676"/>
                  <a:pt x="131088" y="201811"/>
                </a:cubicBezTo>
                <a:cubicBezTo>
                  <a:pt x="124817" y="204946"/>
                  <a:pt x="117197" y="202406"/>
                  <a:pt x="114062" y="196136"/>
                </a:cubicBezTo>
                <a:lnTo>
                  <a:pt x="78780" y="125611"/>
                </a:lnTo>
                <a:lnTo>
                  <a:pt x="42545" y="173950"/>
                </a:lnTo>
                <a:cubicBezTo>
                  <a:pt x="40084" y="177244"/>
                  <a:pt x="35798" y="178554"/>
                  <a:pt x="31909" y="177284"/>
                </a:cubicBezTo>
                <a:cubicBezTo>
                  <a:pt x="28019" y="176014"/>
                  <a:pt x="25400" y="172363"/>
                  <a:pt x="25400" y="168275"/>
                </a:cubicBezTo>
                <a:lnTo>
                  <a:pt x="25400" y="9525"/>
                </a:lnTo>
                <a:cubicBezTo>
                  <a:pt x="25400" y="5913"/>
                  <a:pt x="27424" y="2619"/>
                  <a:pt x="30678" y="99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" name="Text 51"/>
          <p:cNvSpPr/>
          <p:nvPr/>
        </p:nvSpPr>
        <p:spPr>
          <a:xfrm>
            <a:off x="1381276" y="8358566"/>
            <a:ext cx="209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Action Service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381276" y="8714166"/>
            <a:ext cx="205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API Provider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0876" y="9069766"/>
            <a:ext cx="5245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APIs for UI interactions: claim, assign, complete tasks, comments, and file attachments.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20876" y="10710335"/>
            <a:ext cx="863600" cy="304800"/>
          </a:xfrm>
          <a:custGeom>
            <a:avLst/>
            <a:gdLst/>
            <a:ahLst/>
            <a:cxnLst/>
            <a:rect l="l" t="t" r="r" b="b"/>
            <a:pathLst>
              <a:path w="863600" h="304800">
                <a:moveTo>
                  <a:pt x="50801" y="0"/>
                </a:moveTo>
                <a:lnTo>
                  <a:pt x="812799" y="0"/>
                </a:lnTo>
                <a:cubicBezTo>
                  <a:pt x="840856" y="0"/>
                  <a:pt x="863600" y="22744"/>
                  <a:pt x="863600" y="50801"/>
                </a:cubicBezTo>
                <a:lnTo>
                  <a:pt x="863600" y="253999"/>
                </a:lnTo>
                <a:cubicBezTo>
                  <a:pt x="863600" y="282056"/>
                  <a:pt x="840856" y="304800"/>
                  <a:pt x="8127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20876" y="10710335"/>
            <a:ext cx="9398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685774" y="10710335"/>
            <a:ext cx="660400" cy="304800"/>
          </a:xfrm>
          <a:custGeom>
            <a:avLst/>
            <a:gdLst/>
            <a:ahLst/>
            <a:cxnLst/>
            <a:rect l="l" t="t" r="r" b="b"/>
            <a:pathLst>
              <a:path w="660400" h="304800">
                <a:moveTo>
                  <a:pt x="50801" y="0"/>
                </a:moveTo>
                <a:lnTo>
                  <a:pt x="609599" y="0"/>
                </a:lnTo>
                <a:cubicBezTo>
                  <a:pt x="637656" y="0"/>
                  <a:pt x="660400" y="22744"/>
                  <a:pt x="660400" y="50801"/>
                </a:cubicBezTo>
                <a:lnTo>
                  <a:pt x="660400" y="253999"/>
                </a:lnTo>
                <a:cubicBezTo>
                  <a:pt x="660400" y="282056"/>
                  <a:pt x="637656" y="304800"/>
                  <a:pt x="6095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685774" y="10710335"/>
            <a:ext cx="7366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Activiti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04038" y="8150527"/>
            <a:ext cx="5572276" cy="3070376"/>
          </a:xfrm>
          <a:custGeom>
            <a:avLst/>
            <a:gdLst/>
            <a:ahLst/>
            <a:cxnLst/>
            <a:rect l="l" t="t" r="r" b="b"/>
            <a:pathLst>
              <a:path w="5572276" h="3070376">
                <a:moveTo>
                  <a:pt x="152413" y="0"/>
                </a:moveTo>
                <a:lnTo>
                  <a:pt x="5419863" y="0"/>
                </a:lnTo>
                <a:cubicBezTo>
                  <a:pt x="5504038" y="0"/>
                  <a:pt x="5572276" y="68238"/>
                  <a:pt x="5572276" y="152413"/>
                </a:cubicBezTo>
                <a:lnTo>
                  <a:pt x="5572276" y="2917963"/>
                </a:lnTo>
                <a:cubicBezTo>
                  <a:pt x="5572276" y="3002138"/>
                  <a:pt x="5504038" y="3070376"/>
                  <a:pt x="5419863" y="3070376"/>
                </a:cubicBezTo>
                <a:lnTo>
                  <a:pt x="152413" y="3070376"/>
                </a:lnTo>
                <a:cubicBezTo>
                  <a:pt x="68238" y="3070376"/>
                  <a:pt x="0" y="3002138"/>
                  <a:pt x="0" y="2917963"/>
                </a:cubicBezTo>
                <a:lnTo>
                  <a:pt x="0" y="152413"/>
                </a:lnTo>
                <a:cubicBezTo>
                  <a:pt x="0" y="68294"/>
                  <a:pt x="68294" y="0"/>
                  <a:pt x="15241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12076" y="838396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2" name="Shape 60"/>
          <p:cNvSpPr/>
          <p:nvPr/>
        </p:nvSpPr>
        <p:spPr>
          <a:xfrm>
            <a:off x="6664476" y="853636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3" name="Text 61"/>
          <p:cNvSpPr/>
          <p:nvPr/>
        </p:nvSpPr>
        <p:spPr>
          <a:xfrm>
            <a:off x="7172476" y="8358566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Service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172476" y="8714166"/>
            <a:ext cx="209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&amp; Authorization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512076" y="9069766"/>
            <a:ext cx="5245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LDAP-based Spring Security service handling authentication, authorization, and service-to-service tokens.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512076" y="10710335"/>
            <a:ext cx="558800" cy="304800"/>
          </a:xfrm>
          <a:custGeom>
            <a:avLst/>
            <a:gdLst/>
            <a:ahLst/>
            <a:cxnLst/>
            <a:rect l="l" t="t" r="r" b="b"/>
            <a:pathLst>
              <a:path w="558800" h="304800">
                <a:moveTo>
                  <a:pt x="50801" y="0"/>
                </a:moveTo>
                <a:lnTo>
                  <a:pt x="507999" y="0"/>
                </a:lnTo>
                <a:cubicBezTo>
                  <a:pt x="536056" y="0"/>
                  <a:pt x="558800" y="22744"/>
                  <a:pt x="558800" y="50801"/>
                </a:cubicBezTo>
                <a:lnTo>
                  <a:pt x="558800" y="253999"/>
                </a:lnTo>
                <a:cubicBezTo>
                  <a:pt x="558800" y="282056"/>
                  <a:pt x="536056" y="304800"/>
                  <a:pt x="507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512076" y="10710335"/>
            <a:ext cx="635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LDAP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176710" y="10710335"/>
            <a:ext cx="495300" cy="304800"/>
          </a:xfrm>
          <a:custGeom>
            <a:avLst/>
            <a:gdLst/>
            <a:ahLst/>
            <a:cxnLst/>
            <a:rect l="l" t="t" r="r" b="b"/>
            <a:pathLst>
              <a:path w="495300" h="304800">
                <a:moveTo>
                  <a:pt x="50801" y="0"/>
                </a:moveTo>
                <a:lnTo>
                  <a:pt x="444499" y="0"/>
                </a:lnTo>
                <a:cubicBezTo>
                  <a:pt x="472556" y="0"/>
                  <a:pt x="495300" y="22744"/>
                  <a:pt x="495300" y="50801"/>
                </a:cubicBezTo>
                <a:lnTo>
                  <a:pt x="495300" y="253999"/>
                </a:lnTo>
                <a:cubicBezTo>
                  <a:pt x="495300" y="282056"/>
                  <a:pt x="472556" y="304800"/>
                  <a:pt x="4444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176710" y="10710335"/>
            <a:ext cx="5715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768999" y="10710335"/>
            <a:ext cx="711200" cy="304800"/>
          </a:xfrm>
          <a:custGeom>
            <a:avLst/>
            <a:gdLst/>
            <a:ahLst/>
            <a:cxnLst/>
            <a:rect l="l" t="t" r="r" b="b"/>
            <a:pathLst>
              <a:path w="711200" h="3048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253999"/>
                </a:lnTo>
                <a:cubicBezTo>
                  <a:pt x="711200" y="282056"/>
                  <a:pt x="688456" y="304800"/>
                  <a:pt x="660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7768999" y="10710335"/>
            <a:ext cx="787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OAuth2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2095238" y="1579638"/>
            <a:ext cx="3641876" cy="2854476"/>
          </a:xfrm>
          <a:custGeom>
            <a:avLst/>
            <a:gdLst/>
            <a:ahLst/>
            <a:cxnLst/>
            <a:rect l="l" t="t" r="r" b="b"/>
            <a:pathLst>
              <a:path w="3641876" h="2854476">
                <a:moveTo>
                  <a:pt x="152400" y="0"/>
                </a:moveTo>
                <a:lnTo>
                  <a:pt x="3489476" y="0"/>
                </a:lnTo>
                <a:cubicBezTo>
                  <a:pt x="3573644" y="0"/>
                  <a:pt x="3641876" y="68232"/>
                  <a:pt x="3641876" y="152400"/>
                </a:cubicBezTo>
                <a:lnTo>
                  <a:pt x="3641876" y="2702076"/>
                </a:lnTo>
                <a:cubicBezTo>
                  <a:pt x="3641876" y="2786244"/>
                  <a:pt x="3573644" y="2854476"/>
                  <a:pt x="3489476" y="2854476"/>
                </a:cubicBezTo>
                <a:lnTo>
                  <a:pt x="152400" y="2854476"/>
                </a:lnTo>
                <a:cubicBezTo>
                  <a:pt x="68232" y="2854476"/>
                  <a:pt x="0" y="2786244"/>
                  <a:pt x="0" y="2702076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D3136"/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2335026" y="185117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74" name="Text 72"/>
          <p:cNvSpPr/>
          <p:nvPr/>
        </p:nvSpPr>
        <p:spPr>
          <a:xfrm>
            <a:off x="12595376" y="1787677"/>
            <a:ext cx="304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2303276" y="229567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76" name="Text 74"/>
          <p:cNvSpPr/>
          <p:nvPr/>
        </p:nvSpPr>
        <p:spPr>
          <a:xfrm>
            <a:off x="12265176" y="2295677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2709676" y="2321077"/>
            <a:ext cx="180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Upstream → Ingestion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2303276" y="270207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9" name="Text 77"/>
          <p:cNvSpPr/>
          <p:nvPr/>
        </p:nvSpPr>
        <p:spPr>
          <a:xfrm>
            <a:off x="12265176" y="2702077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2709676" y="2727477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 → Case DB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2303276" y="310847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2" name="Text 80"/>
          <p:cNvSpPr/>
          <p:nvPr/>
        </p:nvSpPr>
        <p:spPr>
          <a:xfrm>
            <a:off x="12265176" y="3108477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2709676" y="3133877"/>
            <a:ext cx="182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 → Workflow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2303276" y="351487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5" name="Text 83"/>
          <p:cNvSpPr/>
          <p:nvPr/>
        </p:nvSpPr>
        <p:spPr>
          <a:xfrm>
            <a:off x="12265176" y="3514877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2709676" y="3540277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→ Task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12303276" y="392127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8" name="Text 86"/>
          <p:cNvSpPr/>
          <p:nvPr/>
        </p:nvSpPr>
        <p:spPr>
          <a:xfrm>
            <a:off x="12265176" y="3921277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2709676" y="3946677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→ API Gateway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12095238" y="4646992"/>
            <a:ext cx="3641876" cy="2829076"/>
          </a:xfrm>
          <a:custGeom>
            <a:avLst/>
            <a:gdLst/>
            <a:ahLst/>
            <a:cxnLst/>
            <a:rect l="l" t="t" r="r" b="b"/>
            <a:pathLst>
              <a:path w="3641876" h="2829076">
                <a:moveTo>
                  <a:pt x="152402" y="0"/>
                </a:moveTo>
                <a:lnTo>
                  <a:pt x="3489474" y="0"/>
                </a:lnTo>
                <a:cubicBezTo>
                  <a:pt x="3573643" y="0"/>
                  <a:pt x="3641876" y="68233"/>
                  <a:pt x="3641876" y="152402"/>
                </a:cubicBezTo>
                <a:lnTo>
                  <a:pt x="3641876" y="2676674"/>
                </a:lnTo>
                <a:cubicBezTo>
                  <a:pt x="3641876" y="2760843"/>
                  <a:pt x="3573643" y="2829076"/>
                  <a:pt x="3489474" y="2829076"/>
                </a:cubicBezTo>
                <a:lnTo>
                  <a:pt x="152402" y="2829076"/>
                </a:lnTo>
                <a:cubicBezTo>
                  <a:pt x="68233" y="2829076"/>
                  <a:pt x="0" y="2760843"/>
                  <a:pt x="0" y="2676674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2D3136"/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2349314" y="491852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2" name="Text 90"/>
          <p:cNvSpPr/>
          <p:nvPr/>
        </p:nvSpPr>
        <p:spPr>
          <a:xfrm>
            <a:off x="12595376" y="4855028"/>
            <a:ext cx="304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Tables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12331851" y="541382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4" name="Text 92"/>
          <p:cNvSpPr/>
          <p:nvPr/>
        </p:nvSpPr>
        <p:spPr>
          <a:xfrm>
            <a:off x="12493776" y="5363028"/>
            <a:ext cx="312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 Static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12331851" y="574402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6" name="Text 94"/>
          <p:cNvSpPr/>
          <p:nvPr/>
        </p:nvSpPr>
        <p:spPr>
          <a:xfrm>
            <a:off x="12493776" y="5693228"/>
            <a:ext cx="312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 Table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12331851" y="607422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8" name="Text 96"/>
          <p:cNvSpPr/>
          <p:nvPr/>
        </p:nvSpPr>
        <p:spPr>
          <a:xfrm>
            <a:off x="12493776" y="6023428"/>
            <a:ext cx="312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Table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12331851" y="64044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0" name="Text 98"/>
          <p:cNvSpPr/>
          <p:nvPr/>
        </p:nvSpPr>
        <p:spPr>
          <a:xfrm>
            <a:off x="12493776" y="6353631"/>
            <a:ext cx="312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Field Mapping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12331851" y="67346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2" name="Text 100"/>
          <p:cNvSpPr/>
          <p:nvPr/>
        </p:nvSpPr>
        <p:spPr>
          <a:xfrm>
            <a:off x="12493776" y="6683831"/>
            <a:ext cx="312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Permissions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12331851" y="70648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4" name="Text 102"/>
          <p:cNvSpPr/>
          <p:nvPr/>
        </p:nvSpPr>
        <p:spPr>
          <a:xfrm>
            <a:off x="12493776" y="7014031"/>
            <a:ext cx="312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Roles &amp; Permissions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12095238" y="7688943"/>
            <a:ext cx="3641876" cy="1787676"/>
          </a:xfrm>
          <a:custGeom>
            <a:avLst/>
            <a:gdLst/>
            <a:ahLst/>
            <a:cxnLst/>
            <a:rect l="l" t="t" r="r" b="b"/>
            <a:pathLst>
              <a:path w="3641876" h="1787676">
                <a:moveTo>
                  <a:pt x="152399" y="0"/>
                </a:moveTo>
                <a:lnTo>
                  <a:pt x="3489477" y="0"/>
                </a:lnTo>
                <a:cubicBezTo>
                  <a:pt x="3573645" y="0"/>
                  <a:pt x="3641876" y="68232"/>
                  <a:pt x="3641876" y="152399"/>
                </a:cubicBezTo>
                <a:lnTo>
                  <a:pt x="3641876" y="1635277"/>
                </a:lnTo>
                <a:cubicBezTo>
                  <a:pt x="3641876" y="1719445"/>
                  <a:pt x="3573645" y="1787676"/>
                  <a:pt x="3489477" y="1787676"/>
                </a:cubicBezTo>
                <a:lnTo>
                  <a:pt x="152399" y="1787676"/>
                </a:lnTo>
                <a:cubicBezTo>
                  <a:pt x="68288" y="1787676"/>
                  <a:pt x="0" y="1719388"/>
                  <a:pt x="0" y="1635277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2303276" y="7896982"/>
            <a:ext cx="334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12303276" y="8354182"/>
            <a:ext cx="3314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Routes requests from UI and external services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12303276" y="8963782"/>
            <a:ext cx="711200" cy="304800"/>
          </a:xfrm>
          <a:custGeom>
            <a:avLst/>
            <a:gdLst/>
            <a:ahLst/>
            <a:cxnLst/>
            <a:rect l="l" t="t" r="r" b="b"/>
            <a:pathLst>
              <a:path w="711200" h="3048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253999"/>
                </a:lnTo>
                <a:cubicBezTo>
                  <a:pt x="711200" y="282056"/>
                  <a:pt x="688456" y="304800"/>
                  <a:pt x="660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09" name="Text 107"/>
          <p:cNvSpPr/>
          <p:nvPr/>
        </p:nvSpPr>
        <p:spPr>
          <a:xfrm>
            <a:off x="12303276" y="8963782"/>
            <a:ext cx="787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13109801" y="8963782"/>
            <a:ext cx="1193800" cy="304800"/>
          </a:xfrm>
          <a:custGeom>
            <a:avLst/>
            <a:gdLst/>
            <a:ahLst/>
            <a:cxnLst/>
            <a:rect l="l" t="t" r="r" b="b"/>
            <a:pathLst>
              <a:path w="1193800" h="304800">
                <a:moveTo>
                  <a:pt x="50801" y="0"/>
                </a:moveTo>
                <a:lnTo>
                  <a:pt x="1142999" y="0"/>
                </a:lnTo>
                <a:cubicBezTo>
                  <a:pt x="1171056" y="0"/>
                  <a:pt x="1193800" y="22744"/>
                  <a:pt x="1193800" y="50801"/>
                </a:cubicBezTo>
                <a:lnTo>
                  <a:pt x="1193800" y="253999"/>
                </a:lnTo>
                <a:cubicBezTo>
                  <a:pt x="1193800" y="282056"/>
                  <a:pt x="1171056" y="304800"/>
                  <a:pt x="1142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11" name="Text 109"/>
          <p:cNvSpPr/>
          <p:nvPr/>
        </p:nvSpPr>
        <p:spPr>
          <a:xfrm>
            <a:off x="13109801" y="8963782"/>
            <a:ext cx="1270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Balancing</a:t>
            </a:r>
            <a:endParaRPr lang="en-US" sz="1600" dirty="0"/>
          </a:p>
        </p:txBody>
      </p:sp>
      <p:sp>
        <p:nvSpPr>
          <p:cNvPr id="112" name="Shape 110"/>
          <p:cNvSpPr/>
          <p:nvPr/>
        </p:nvSpPr>
        <p:spPr>
          <a:xfrm>
            <a:off x="12095238" y="9689497"/>
            <a:ext cx="3641876" cy="1533676"/>
          </a:xfrm>
          <a:custGeom>
            <a:avLst/>
            <a:gdLst/>
            <a:ahLst/>
            <a:cxnLst/>
            <a:rect l="l" t="t" r="r" b="b"/>
            <a:pathLst>
              <a:path w="3641876" h="1533676">
                <a:moveTo>
                  <a:pt x="152401" y="0"/>
                </a:moveTo>
                <a:lnTo>
                  <a:pt x="3489475" y="0"/>
                </a:lnTo>
                <a:cubicBezTo>
                  <a:pt x="3573644" y="0"/>
                  <a:pt x="3641876" y="68232"/>
                  <a:pt x="3641876" y="152401"/>
                </a:cubicBezTo>
                <a:lnTo>
                  <a:pt x="3641876" y="1381275"/>
                </a:lnTo>
                <a:cubicBezTo>
                  <a:pt x="3641876" y="1465444"/>
                  <a:pt x="3573644" y="1533676"/>
                  <a:pt x="3489475" y="1533676"/>
                </a:cubicBezTo>
                <a:lnTo>
                  <a:pt x="152401" y="1533676"/>
                </a:lnTo>
                <a:cubicBezTo>
                  <a:pt x="68232" y="1533676"/>
                  <a:pt x="0" y="1465444"/>
                  <a:pt x="0" y="1381275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2303276" y="9897535"/>
            <a:ext cx="334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Service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12303276" y="10354735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Angular-based frontend application</a:t>
            </a:r>
            <a:endParaRPr lang="en-US" sz="1600" dirty="0"/>
          </a:p>
        </p:txBody>
      </p:sp>
      <p:sp>
        <p:nvSpPr>
          <p:cNvPr id="115" name="Shape 113"/>
          <p:cNvSpPr/>
          <p:nvPr/>
        </p:nvSpPr>
        <p:spPr>
          <a:xfrm>
            <a:off x="12303276" y="10710335"/>
            <a:ext cx="711200" cy="304800"/>
          </a:xfrm>
          <a:custGeom>
            <a:avLst/>
            <a:gdLst/>
            <a:ahLst/>
            <a:cxnLst/>
            <a:rect l="l" t="t" r="r" b="b"/>
            <a:pathLst>
              <a:path w="711200" h="3048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253999"/>
                </a:lnTo>
                <a:cubicBezTo>
                  <a:pt x="711200" y="282056"/>
                  <a:pt x="688456" y="304800"/>
                  <a:pt x="660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16" name="Text 114"/>
          <p:cNvSpPr/>
          <p:nvPr/>
        </p:nvSpPr>
        <p:spPr>
          <a:xfrm>
            <a:off x="12303276" y="10710335"/>
            <a:ext cx="787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Angular</a:t>
            </a: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13115925" y="10710335"/>
            <a:ext cx="952500" cy="304800"/>
          </a:xfrm>
          <a:custGeom>
            <a:avLst/>
            <a:gdLst/>
            <a:ahLst/>
            <a:cxnLst/>
            <a:rect l="l" t="t" r="r" b="b"/>
            <a:pathLst>
              <a:path w="952500" h="304800">
                <a:moveTo>
                  <a:pt x="50801" y="0"/>
                </a:moveTo>
                <a:lnTo>
                  <a:pt x="901699" y="0"/>
                </a:lnTo>
                <a:cubicBezTo>
                  <a:pt x="929756" y="0"/>
                  <a:pt x="952500" y="22744"/>
                  <a:pt x="952500" y="50801"/>
                </a:cubicBezTo>
                <a:lnTo>
                  <a:pt x="952500" y="253999"/>
                </a:lnTo>
                <a:cubicBezTo>
                  <a:pt x="952500" y="282056"/>
                  <a:pt x="929756" y="304800"/>
                  <a:pt x="9016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18" name="Text 116"/>
          <p:cNvSpPr/>
          <p:nvPr/>
        </p:nvSpPr>
        <p:spPr>
          <a:xfrm>
            <a:off x="13115925" y="10710335"/>
            <a:ext cx="10287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HIGH AVAILABILITY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High Availability Improvements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838" y="1579638"/>
            <a:ext cx="10080776" cy="2854476"/>
          </a:xfrm>
          <a:custGeom>
            <a:avLst/>
            <a:gdLst/>
            <a:ahLst/>
            <a:cxnLst/>
            <a:rect l="l" t="t" r="r" b="b"/>
            <a:pathLst>
              <a:path w="10080776" h="2854476">
                <a:moveTo>
                  <a:pt x="152400" y="0"/>
                </a:moveTo>
                <a:lnTo>
                  <a:pt x="9928376" y="0"/>
                </a:lnTo>
                <a:cubicBezTo>
                  <a:pt x="10012544" y="0"/>
                  <a:pt x="10080776" y="68232"/>
                  <a:pt x="10080776" y="152400"/>
                </a:cubicBezTo>
                <a:lnTo>
                  <a:pt x="10080776" y="2702076"/>
                </a:lnTo>
                <a:cubicBezTo>
                  <a:pt x="10080776" y="2786244"/>
                  <a:pt x="10012544" y="2854476"/>
                  <a:pt x="9928376" y="2854476"/>
                </a:cubicBezTo>
                <a:lnTo>
                  <a:pt x="152400" y="2854476"/>
                </a:lnTo>
                <a:cubicBezTo>
                  <a:pt x="68232" y="2854476"/>
                  <a:pt x="0" y="2786244"/>
                  <a:pt x="0" y="2702076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876" y="17876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" name="Shape 4"/>
          <p:cNvSpPr/>
          <p:nvPr/>
        </p:nvSpPr>
        <p:spPr>
          <a:xfrm>
            <a:off x="878039" y="192737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381276" y="1863877"/>
            <a:ext cx="412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Multi-Zone Kubernetes Deployment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0876" y="2448077"/>
            <a:ext cx="4762500" cy="812800"/>
          </a:xfrm>
          <a:custGeom>
            <a:avLst/>
            <a:gdLst/>
            <a:ahLst/>
            <a:cxnLst/>
            <a:rect l="l" t="t" r="r" b="b"/>
            <a:pathLst>
              <a:path w="4762500" h="812800">
                <a:moveTo>
                  <a:pt x="101600" y="0"/>
                </a:moveTo>
                <a:lnTo>
                  <a:pt x="4660900" y="0"/>
                </a:lnTo>
                <a:cubicBezTo>
                  <a:pt x="4716975" y="0"/>
                  <a:pt x="4762500" y="45525"/>
                  <a:pt x="4762500" y="101600"/>
                </a:cubicBezTo>
                <a:lnTo>
                  <a:pt x="4762500" y="711200"/>
                </a:lnTo>
                <a:cubicBezTo>
                  <a:pt x="4762500" y="767275"/>
                  <a:pt x="4716975" y="812800"/>
                  <a:pt x="46609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73276" y="2600477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Pod Anti-Affinity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3276" y="2905277"/>
            <a:ext cx="4533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 pods across availability zones to survive zone failures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30333" y="2448077"/>
            <a:ext cx="4762500" cy="812800"/>
          </a:xfrm>
          <a:custGeom>
            <a:avLst/>
            <a:gdLst/>
            <a:ahLst/>
            <a:cxnLst/>
            <a:rect l="l" t="t" r="r" b="b"/>
            <a:pathLst>
              <a:path w="4762500" h="812800">
                <a:moveTo>
                  <a:pt x="101600" y="0"/>
                </a:moveTo>
                <a:lnTo>
                  <a:pt x="4660900" y="0"/>
                </a:lnTo>
                <a:cubicBezTo>
                  <a:pt x="4716975" y="0"/>
                  <a:pt x="4762500" y="45525"/>
                  <a:pt x="4762500" y="101600"/>
                </a:cubicBezTo>
                <a:lnTo>
                  <a:pt x="4762500" y="711200"/>
                </a:lnTo>
                <a:cubicBezTo>
                  <a:pt x="4762500" y="767275"/>
                  <a:pt x="4716975" y="812800"/>
                  <a:pt x="46609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82733" y="2600477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Replica Sets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82733" y="2905277"/>
            <a:ext cx="4533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3 replicas per service for redundancy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0876" y="3413277"/>
            <a:ext cx="4762500" cy="812800"/>
          </a:xfrm>
          <a:custGeom>
            <a:avLst/>
            <a:gdLst/>
            <a:ahLst/>
            <a:cxnLst/>
            <a:rect l="l" t="t" r="r" b="b"/>
            <a:pathLst>
              <a:path w="4762500" h="812800">
                <a:moveTo>
                  <a:pt x="101600" y="0"/>
                </a:moveTo>
                <a:lnTo>
                  <a:pt x="4660900" y="0"/>
                </a:lnTo>
                <a:cubicBezTo>
                  <a:pt x="4716975" y="0"/>
                  <a:pt x="4762500" y="45525"/>
                  <a:pt x="4762500" y="101600"/>
                </a:cubicBezTo>
                <a:lnTo>
                  <a:pt x="4762500" y="711200"/>
                </a:lnTo>
                <a:cubicBezTo>
                  <a:pt x="4762500" y="767275"/>
                  <a:pt x="4716975" y="812800"/>
                  <a:pt x="46609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73276" y="3565677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Probes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3276" y="3870477"/>
            <a:ext cx="4533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Liveness and readiness probes for automatic recovery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30333" y="3413277"/>
            <a:ext cx="4762500" cy="812800"/>
          </a:xfrm>
          <a:custGeom>
            <a:avLst/>
            <a:gdLst/>
            <a:ahLst/>
            <a:cxnLst/>
            <a:rect l="l" t="t" r="r" b="b"/>
            <a:pathLst>
              <a:path w="4762500" h="812800">
                <a:moveTo>
                  <a:pt x="101600" y="0"/>
                </a:moveTo>
                <a:lnTo>
                  <a:pt x="4660900" y="0"/>
                </a:lnTo>
                <a:cubicBezTo>
                  <a:pt x="4716975" y="0"/>
                  <a:pt x="4762500" y="45525"/>
                  <a:pt x="4762500" y="101600"/>
                </a:cubicBezTo>
                <a:lnTo>
                  <a:pt x="4762500" y="711200"/>
                </a:lnTo>
                <a:cubicBezTo>
                  <a:pt x="4762500" y="767275"/>
                  <a:pt x="4716975" y="812800"/>
                  <a:pt x="46609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782733" y="3565677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Graceful Shutdown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82733" y="3870477"/>
            <a:ext cx="4533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SIGTERM for zero-downtime deployments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2838" y="4596192"/>
            <a:ext cx="10080776" cy="2194076"/>
          </a:xfrm>
          <a:custGeom>
            <a:avLst/>
            <a:gdLst/>
            <a:ahLst/>
            <a:cxnLst/>
            <a:rect l="l" t="t" r="r" b="b"/>
            <a:pathLst>
              <a:path w="10080776" h="2194076">
                <a:moveTo>
                  <a:pt x="152401" y="0"/>
                </a:moveTo>
                <a:lnTo>
                  <a:pt x="9928376" y="0"/>
                </a:lnTo>
                <a:cubicBezTo>
                  <a:pt x="10012544" y="0"/>
                  <a:pt x="10080776" y="68232"/>
                  <a:pt x="10080776" y="152401"/>
                </a:cubicBezTo>
                <a:lnTo>
                  <a:pt x="10080776" y="2041676"/>
                </a:lnTo>
                <a:cubicBezTo>
                  <a:pt x="10080776" y="2125844"/>
                  <a:pt x="10012544" y="2194076"/>
                  <a:pt x="9928376" y="2194076"/>
                </a:cubicBezTo>
                <a:lnTo>
                  <a:pt x="152401" y="2194076"/>
                </a:lnTo>
                <a:cubicBezTo>
                  <a:pt x="68232" y="2194076"/>
                  <a:pt x="0" y="2125844"/>
                  <a:pt x="0" y="2041676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876" y="480423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Shape 20"/>
          <p:cNvSpPr/>
          <p:nvPr/>
        </p:nvSpPr>
        <p:spPr>
          <a:xfrm>
            <a:off x="878039" y="494393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1381276" y="4880431"/>
            <a:ext cx="334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High Availability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0876" y="5464631"/>
            <a:ext cx="3124200" cy="1117600"/>
          </a:xfrm>
          <a:custGeom>
            <a:avLst/>
            <a:gdLst/>
            <a:ahLst/>
            <a:cxnLst/>
            <a:rect l="l" t="t" r="r" b="b"/>
            <a:pathLst>
              <a:path w="3124200" h="1117600">
                <a:moveTo>
                  <a:pt x="101601" y="0"/>
                </a:moveTo>
                <a:lnTo>
                  <a:pt x="3022599" y="0"/>
                </a:lnTo>
                <a:cubicBezTo>
                  <a:pt x="3078712" y="0"/>
                  <a:pt x="3124200" y="45488"/>
                  <a:pt x="3124200" y="101601"/>
                </a:cubicBezTo>
                <a:lnTo>
                  <a:pt x="3124200" y="1015999"/>
                </a:lnTo>
                <a:cubicBezTo>
                  <a:pt x="3124200" y="1072112"/>
                  <a:pt x="3078712" y="1117600"/>
                  <a:pt x="3022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138287" y="5617031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5277" y="43259"/>
                </a:moveTo>
                <a:cubicBezTo>
                  <a:pt x="159841" y="39638"/>
                  <a:pt x="162719" y="34032"/>
                  <a:pt x="162719" y="27781"/>
                </a:cubicBezTo>
                <a:cubicBezTo>
                  <a:pt x="162719" y="16818"/>
                  <a:pt x="153839" y="7938"/>
                  <a:pt x="142875" y="7938"/>
                </a:cubicBezTo>
                <a:cubicBezTo>
                  <a:pt x="131911" y="7938"/>
                  <a:pt x="123031" y="16818"/>
                  <a:pt x="123031" y="27781"/>
                </a:cubicBezTo>
                <a:cubicBezTo>
                  <a:pt x="123031" y="34032"/>
                  <a:pt x="125958" y="39638"/>
                  <a:pt x="130473" y="43259"/>
                </a:cubicBezTo>
                <a:lnTo>
                  <a:pt x="96540" y="96639"/>
                </a:lnTo>
                <a:cubicBezTo>
                  <a:pt x="91579" y="104428"/>
                  <a:pt x="81012" y="106363"/>
                  <a:pt x="73620" y="100806"/>
                </a:cubicBezTo>
                <a:lnTo>
                  <a:pt x="44103" y="78730"/>
                </a:lnTo>
                <a:cubicBezTo>
                  <a:pt x="46335" y="75555"/>
                  <a:pt x="47625" y="71636"/>
                  <a:pt x="47625" y="67469"/>
                </a:cubicBezTo>
                <a:cubicBezTo>
                  <a:pt x="47625" y="56505"/>
                  <a:pt x="38745" y="47625"/>
                  <a:pt x="27781" y="47625"/>
                </a:cubicBezTo>
                <a:cubicBezTo>
                  <a:pt x="16818" y="47625"/>
                  <a:pt x="7938" y="56505"/>
                  <a:pt x="7938" y="67469"/>
                </a:cubicBezTo>
                <a:cubicBezTo>
                  <a:pt x="7938" y="78284"/>
                  <a:pt x="16619" y="87114"/>
                  <a:pt x="27384" y="87313"/>
                </a:cubicBezTo>
                <a:lnTo>
                  <a:pt x="43557" y="195213"/>
                </a:lnTo>
                <a:cubicBezTo>
                  <a:pt x="45889" y="210741"/>
                  <a:pt x="59234" y="222250"/>
                  <a:pt x="74960" y="222250"/>
                </a:cubicBezTo>
                <a:lnTo>
                  <a:pt x="210790" y="222250"/>
                </a:lnTo>
                <a:cubicBezTo>
                  <a:pt x="226516" y="222250"/>
                  <a:pt x="239861" y="210741"/>
                  <a:pt x="242193" y="195213"/>
                </a:cubicBezTo>
                <a:lnTo>
                  <a:pt x="258366" y="87313"/>
                </a:lnTo>
                <a:cubicBezTo>
                  <a:pt x="269131" y="87114"/>
                  <a:pt x="277813" y="78284"/>
                  <a:pt x="277813" y="67469"/>
                </a:cubicBezTo>
                <a:cubicBezTo>
                  <a:pt x="277813" y="56505"/>
                  <a:pt x="268932" y="47625"/>
                  <a:pt x="257969" y="47625"/>
                </a:cubicBezTo>
                <a:cubicBezTo>
                  <a:pt x="247005" y="47625"/>
                  <a:pt x="238125" y="56505"/>
                  <a:pt x="238125" y="67469"/>
                </a:cubicBezTo>
                <a:cubicBezTo>
                  <a:pt x="238125" y="71636"/>
                  <a:pt x="239415" y="75555"/>
                  <a:pt x="241647" y="78730"/>
                </a:cubicBezTo>
                <a:lnTo>
                  <a:pt x="212179" y="100856"/>
                </a:lnTo>
                <a:cubicBezTo>
                  <a:pt x="204788" y="106412"/>
                  <a:pt x="194221" y="104477"/>
                  <a:pt x="189260" y="96689"/>
                </a:cubicBezTo>
                <a:lnTo>
                  <a:pt x="155277" y="4325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6" name="Text 24"/>
          <p:cNvSpPr/>
          <p:nvPr/>
        </p:nvSpPr>
        <p:spPr>
          <a:xfrm>
            <a:off x="828826" y="5972631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Patroni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5176" y="6226631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 orchestration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93848" y="5464631"/>
            <a:ext cx="3124200" cy="1117600"/>
          </a:xfrm>
          <a:custGeom>
            <a:avLst/>
            <a:gdLst/>
            <a:ahLst/>
            <a:cxnLst/>
            <a:rect l="l" t="t" r="r" b="b"/>
            <a:pathLst>
              <a:path w="3124200" h="1117600">
                <a:moveTo>
                  <a:pt x="101601" y="0"/>
                </a:moveTo>
                <a:lnTo>
                  <a:pt x="3022599" y="0"/>
                </a:lnTo>
                <a:cubicBezTo>
                  <a:pt x="3078712" y="0"/>
                  <a:pt x="3124200" y="45488"/>
                  <a:pt x="3124200" y="101601"/>
                </a:cubicBezTo>
                <a:lnTo>
                  <a:pt x="3124200" y="1015999"/>
                </a:lnTo>
                <a:cubicBezTo>
                  <a:pt x="3124200" y="1072112"/>
                  <a:pt x="3078712" y="1117600"/>
                  <a:pt x="3022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427133" y="561703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2875" y="222250"/>
                </a:moveTo>
                <a:lnTo>
                  <a:pt x="31750" y="222250"/>
                </a:lnTo>
                <a:lnTo>
                  <a:pt x="31750" y="111125"/>
                </a:lnTo>
                <a:lnTo>
                  <a:pt x="55563" y="111125"/>
                </a:lnTo>
                <a:lnTo>
                  <a:pt x="55563" y="79375"/>
                </a:lnTo>
                <a:lnTo>
                  <a:pt x="31750" y="79375"/>
                </a:lnTo>
                <a:cubicBezTo>
                  <a:pt x="14238" y="79375"/>
                  <a:pt x="0" y="93613"/>
                  <a:pt x="0" y="111125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42875" y="254000"/>
                </a:lnTo>
                <a:cubicBezTo>
                  <a:pt x="160387" y="254000"/>
                  <a:pt x="174625" y="239762"/>
                  <a:pt x="174625" y="222250"/>
                </a:cubicBezTo>
                <a:lnTo>
                  <a:pt x="174625" y="198438"/>
                </a:lnTo>
                <a:lnTo>
                  <a:pt x="142875" y="198438"/>
                </a:lnTo>
                <a:lnTo>
                  <a:pt x="142875" y="222250"/>
                </a:lnTo>
                <a:close/>
                <a:moveTo>
                  <a:pt x="111125" y="174625"/>
                </a:moveTo>
                <a:lnTo>
                  <a:pt x="222250" y="174625"/>
                </a:lnTo>
                <a:cubicBezTo>
                  <a:pt x="239762" y="174625"/>
                  <a:pt x="254000" y="160387"/>
                  <a:pt x="254000" y="142875"/>
                </a:cubicBezTo>
                <a:lnTo>
                  <a:pt x="254000" y="31750"/>
                </a:lnTo>
                <a:cubicBezTo>
                  <a:pt x="254000" y="14238"/>
                  <a:pt x="239762" y="0"/>
                  <a:pt x="222250" y="0"/>
                </a:cubicBezTo>
                <a:lnTo>
                  <a:pt x="111125" y="0"/>
                </a:lnTo>
                <a:cubicBezTo>
                  <a:pt x="93613" y="0"/>
                  <a:pt x="79375" y="14238"/>
                  <a:pt x="79375" y="31750"/>
                </a:cubicBezTo>
                <a:lnTo>
                  <a:pt x="79375" y="142875"/>
                </a:lnTo>
                <a:cubicBezTo>
                  <a:pt x="79375" y="160387"/>
                  <a:pt x="93613" y="174625"/>
                  <a:pt x="111125" y="17462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4101798" y="5972631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 Replication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08148" y="6226631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Primary + 2 Replicas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66819" y="5464631"/>
            <a:ext cx="3124200" cy="1117600"/>
          </a:xfrm>
          <a:custGeom>
            <a:avLst/>
            <a:gdLst/>
            <a:ahLst/>
            <a:cxnLst/>
            <a:rect l="l" t="t" r="r" b="b"/>
            <a:pathLst>
              <a:path w="3124200" h="1117600">
                <a:moveTo>
                  <a:pt x="101601" y="0"/>
                </a:moveTo>
                <a:lnTo>
                  <a:pt x="3022599" y="0"/>
                </a:lnTo>
                <a:cubicBezTo>
                  <a:pt x="3078712" y="0"/>
                  <a:pt x="3124200" y="45488"/>
                  <a:pt x="3124200" y="101601"/>
                </a:cubicBezTo>
                <a:lnTo>
                  <a:pt x="3124200" y="1015999"/>
                </a:lnTo>
                <a:cubicBezTo>
                  <a:pt x="3124200" y="1072112"/>
                  <a:pt x="3078712" y="1117600"/>
                  <a:pt x="30225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684230" y="5617031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23031" y="43656"/>
                </a:moveTo>
                <a:lnTo>
                  <a:pt x="162719" y="43656"/>
                </a:lnTo>
                <a:lnTo>
                  <a:pt x="162719" y="67469"/>
                </a:lnTo>
                <a:lnTo>
                  <a:pt x="123031" y="67469"/>
                </a:lnTo>
                <a:lnTo>
                  <a:pt x="123031" y="43656"/>
                </a:lnTo>
                <a:close/>
                <a:moveTo>
                  <a:pt x="119063" y="15875"/>
                </a:moveTo>
                <a:cubicBezTo>
                  <a:pt x="105916" y="15875"/>
                  <a:pt x="95250" y="26541"/>
                  <a:pt x="95250" y="39688"/>
                </a:cubicBezTo>
                <a:lnTo>
                  <a:pt x="95250" y="71438"/>
                </a:lnTo>
                <a:cubicBezTo>
                  <a:pt x="95250" y="84584"/>
                  <a:pt x="105916" y="95250"/>
                  <a:pt x="119063" y="95250"/>
                </a:cubicBezTo>
                <a:lnTo>
                  <a:pt x="127000" y="95250"/>
                </a:lnTo>
                <a:lnTo>
                  <a:pt x="127000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63500" y="142875"/>
                </a:lnTo>
                <a:lnTo>
                  <a:pt x="63500" y="158750"/>
                </a:lnTo>
                <a:lnTo>
                  <a:pt x="55563" y="158750"/>
                </a:lnTo>
                <a:cubicBezTo>
                  <a:pt x="42416" y="158750"/>
                  <a:pt x="31750" y="169416"/>
                  <a:pt x="31750" y="182563"/>
                </a:cubicBezTo>
                <a:lnTo>
                  <a:pt x="31750" y="214313"/>
                </a:lnTo>
                <a:cubicBezTo>
                  <a:pt x="31750" y="227459"/>
                  <a:pt x="42416" y="238125"/>
                  <a:pt x="55563" y="238125"/>
                </a:cubicBezTo>
                <a:lnTo>
                  <a:pt x="103188" y="238125"/>
                </a:lnTo>
                <a:cubicBezTo>
                  <a:pt x="116334" y="238125"/>
                  <a:pt x="127000" y="227459"/>
                  <a:pt x="127000" y="214313"/>
                </a:cubicBezTo>
                <a:lnTo>
                  <a:pt x="127000" y="182563"/>
                </a:lnTo>
                <a:cubicBezTo>
                  <a:pt x="127000" y="169416"/>
                  <a:pt x="116334" y="158750"/>
                  <a:pt x="103188" y="158750"/>
                </a:cubicBezTo>
                <a:lnTo>
                  <a:pt x="95250" y="158750"/>
                </a:lnTo>
                <a:lnTo>
                  <a:pt x="95250" y="142875"/>
                </a:lnTo>
                <a:lnTo>
                  <a:pt x="190500" y="142875"/>
                </a:lnTo>
                <a:lnTo>
                  <a:pt x="190500" y="158750"/>
                </a:lnTo>
                <a:lnTo>
                  <a:pt x="182563" y="158750"/>
                </a:lnTo>
                <a:cubicBezTo>
                  <a:pt x="169416" y="158750"/>
                  <a:pt x="158750" y="169416"/>
                  <a:pt x="158750" y="182563"/>
                </a:cubicBezTo>
                <a:lnTo>
                  <a:pt x="158750" y="214313"/>
                </a:lnTo>
                <a:cubicBezTo>
                  <a:pt x="158750" y="227459"/>
                  <a:pt x="169416" y="238125"/>
                  <a:pt x="182563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182563"/>
                </a:lnTo>
                <a:cubicBezTo>
                  <a:pt x="254000" y="169416"/>
                  <a:pt x="243334" y="158750"/>
                  <a:pt x="230188" y="158750"/>
                </a:cubicBezTo>
                <a:lnTo>
                  <a:pt x="222250" y="158750"/>
                </a:lnTo>
                <a:lnTo>
                  <a:pt x="222250" y="142875"/>
                </a:lnTo>
                <a:lnTo>
                  <a:pt x="269875" y="142875"/>
                </a:lnTo>
                <a:cubicBezTo>
                  <a:pt x="278656" y="142875"/>
                  <a:pt x="285750" y="135781"/>
                  <a:pt x="285750" y="127000"/>
                </a:cubicBezTo>
                <a:cubicBezTo>
                  <a:pt x="285750" y="118219"/>
                  <a:pt x="278656" y="111125"/>
                  <a:pt x="269875" y="111125"/>
                </a:cubicBezTo>
                <a:lnTo>
                  <a:pt x="158750" y="111125"/>
                </a:lnTo>
                <a:lnTo>
                  <a:pt x="158750" y="95250"/>
                </a:lnTo>
                <a:lnTo>
                  <a:pt x="166688" y="95250"/>
                </a:lnTo>
                <a:cubicBezTo>
                  <a:pt x="179834" y="95250"/>
                  <a:pt x="190500" y="84584"/>
                  <a:pt x="190500" y="71438"/>
                </a:cubicBezTo>
                <a:lnTo>
                  <a:pt x="190500" y="39688"/>
                </a:lnTo>
                <a:cubicBezTo>
                  <a:pt x="190500" y="26541"/>
                  <a:pt x="179834" y="15875"/>
                  <a:pt x="166688" y="15875"/>
                </a:cubicBezTo>
                <a:lnTo>
                  <a:pt x="119063" y="15875"/>
                </a:lnTo>
                <a:close/>
                <a:moveTo>
                  <a:pt x="222250" y="186531"/>
                </a:moveTo>
                <a:lnTo>
                  <a:pt x="226219" y="186531"/>
                </a:lnTo>
                <a:lnTo>
                  <a:pt x="226219" y="210344"/>
                </a:lnTo>
                <a:lnTo>
                  <a:pt x="186531" y="210344"/>
                </a:lnTo>
                <a:lnTo>
                  <a:pt x="186531" y="186531"/>
                </a:lnTo>
                <a:lnTo>
                  <a:pt x="222250" y="186531"/>
                </a:lnTo>
                <a:close/>
                <a:moveTo>
                  <a:pt x="95250" y="186531"/>
                </a:moveTo>
                <a:lnTo>
                  <a:pt x="99219" y="186531"/>
                </a:lnTo>
                <a:lnTo>
                  <a:pt x="99219" y="210344"/>
                </a:lnTo>
                <a:lnTo>
                  <a:pt x="59531" y="210344"/>
                </a:lnTo>
                <a:lnTo>
                  <a:pt x="59531" y="186531"/>
                </a:lnTo>
                <a:lnTo>
                  <a:pt x="95250" y="18653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4" name="Text 32"/>
          <p:cNvSpPr/>
          <p:nvPr/>
        </p:nvSpPr>
        <p:spPr>
          <a:xfrm>
            <a:off x="7374769" y="5972631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pgBouncer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81119" y="6226631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pooling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2838" y="6952343"/>
            <a:ext cx="10080776" cy="2092476"/>
          </a:xfrm>
          <a:custGeom>
            <a:avLst/>
            <a:gdLst/>
            <a:ahLst/>
            <a:cxnLst/>
            <a:rect l="l" t="t" r="r" b="b"/>
            <a:pathLst>
              <a:path w="10080776" h="2092476">
                <a:moveTo>
                  <a:pt x="152395" y="0"/>
                </a:moveTo>
                <a:lnTo>
                  <a:pt x="9928381" y="0"/>
                </a:lnTo>
                <a:cubicBezTo>
                  <a:pt x="10012547" y="0"/>
                  <a:pt x="10080776" y="68230"/>
                  <a:pt x="10080776" y="152395"/>
                </a:cubicBezTo>
                <a:lnTo>
                  <a:pt x="10080776" y="1940081"/>
                </a:lnTo>
                <a:cubicBezTo>
                  <a:pt x="10080776" y="2024247"/>
                  <a:pt x="10012547" y="2092476"/>
                  <a:pt x="9928381" y="2092476"/>
                </a:cubicBezTo>
                <a:lnTo>
                  <a:pt x="152395" y="2092476"/>
                </a:lnTo>
                <a:cubicBezTo>
                  <a:pt x="68230" y="2092476"/>
                  <a:pt x="0" y="2024247"/>
                  <a:pt x="0" y="1940081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0876" y="716038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8" name="Shape 36"/>
          <p:cNvSpPr/>
          <p:nvPr/>
        </p:nvSpPr>
        <p:spPr>
          <a:xfrm>
            <a:off x="863751" y="73000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42863"/>
                </a:moveTo>
                <a:cubicBezTo>
                  <a:pt x="0" y="34960"/>
                  <a:pt x="6385" y="28575"/>
                  <a:pt x="14288" y="28575"/>
                </a:cubicBezTo>
                <a:lnTo>
                  <a:pt x="185738" y="28575"/>
                </a:lnTo>
                <a:cubicBezTo>
                  <a:pt x="193640" y="28575"/>
                  <a:pt x="200025" y="34960"/>
                  <a:pt x="200025" y="42863"/>
                </a:cubicBezTo>
                <a:cubicBezTo>
                  <a:pt x="200025" y="50765"/>
                  <a:pt x="193640" y="57150"/>
                  <a:pt x="185738" y="57150"/>
                </a:cubicBezTo>
                <a:lnTo>
                  <a:pt x="14288" y="57150"/>
                </a:lnTo>
                <a:cubicBezTo>
                  <a:pt x="6385" y="57150"/>
                  <a:pt x="0" y="50765"/>
                  <a:pt x="0" y="42863"/>
                </a:cubicBezTo>
                <a:close/>
                <a:moveTo>
                  <a:pt x="28575" y="114300"/>
                </a:moveTo>
                <a:cubicBezTo>
                  <a:pt x="28575" y="106397"/>
                  <a:pt x="34960" y="100013"/>
                  <a:pt x="42863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42863" y="128588"/>
                </a:lnTo>
                <a:cubicBezTo>
                  <a:pt x="34960" y="128588"/>
                  <a:pt x="28575" y="122203"/>
                  <a:pt x="28575" y="114300"/>
                </a:cubicBezTo>
                <a:close/>
                <a:moveTo>
                  <a:pt x="200025" y="185738"/>
                </a:moveTo>
                <a:cubicBezTo>
                  <a:pt x="200025" y="193640"/>
                  <a:pt x="193640" y="200025"/>
                  <a:pt x="185738" y="200025"/>
                </a:cubicBezTo>
                <a:lnTo>
                  <a:pt x="14288" y="200025"/>
                </a:lnTo>
                <a:cubicBezTo>
                  <a:pt x="6385" y="200025"/>
                  <a:pt x="0" y="193640"/>
                  <a:pt x="0" y="185738"/>
                </a:cubicBezTo>
                <a:cubicBezTo>
                  <a:pt x="0" y="17783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77835"/>
                  <a:pt x="200025" y="1857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Text 37"/>
          <p:cNvSpPr/>
          <p:nvPr/>
        </p:nvSpPr>
        <p:spPr>
          <a:xfrm>
            <a:off x="1381276" y="7236582"/>
            <a:ext cx="281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Kafka Cluster Resilience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20876" y="7820782"/>
            <a:ext cx="3124200" cy="1016000"/>
          </a:xfrm>
          <a:custGeom>
            <a:avLst/>
            <a:gdLst/>
            <a:ahLst/>
            <a:cxnLst/>
            <a:rect l="l" t="t" r="r" b="b"/>
            <a:pathLst>
              <a:path w="3124200" h="1016000">
                <a:moveTo>
                  <a:pt x="101600" y="0"/>
                </a:moveTo>
                <a:lnTo>
                  <a:pt x="3022600" y="0"/>
                </a:lnTo>
                <a:cubicBezTo>
                  <a:pt x="3078675" y="0"/>
                  <a:pt x="3124200" y="45525"/>
                  <a:pt x="3124200" y="101600"/>
                </a:cubicBezTo>
                <a:lnTo>
                  <a:pt x="3124200" y="914400"/>
                </a:lnTo>
                <a:cubicBezTo>
                  <a:pt x="3124200" y="970475"/>
                  <a:pt x="3078675" y="1016000"/>
                  <a:pt x="30226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73276" y="7973182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3+ Broker Cluster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73276" y="8277982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3 brokers with replication factor 3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993848" y="7820782"/>
            <a:ext cx="3124200" cy="1016000"/>
          </a:xfrm>
          <a:custGeom>
            <a:avLst/>
            <a:gdLst/>
            <a:ahLst/>
            <a:cxnLst/>
            <a:rect l="l" t="t" r="r" b="b"/>
            <a:pathLst>
              <a:path w="3124200" h="1016000">
                <a:moveTo>
                  <a:pt x="101600" y="0"/>
                </a:moveTo>
                <a:lnTo>
                  <a:pt x="3022600" y="0"/>
                </a:lnTo>
                <a:cubicBezTo>
                  <a:pt x="3078675" y="0"/>
                  <a:pt x="3124200" y="45525"/>
                  <a:pt x="3124200" y="101600"/>
                </a:cubicBezTo>
                <a:lnTo>
                  <a:pt x="3124200" y="914400"/>
                </a:lnTo>
                <a:cubicBezTo>
                  <a:pt x="3124200" y="970475"/>
                  <a:pt x="3078675" y="1016000"/>
                  <a:pt x="30226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146248" y="7973182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Partition Replication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146248" y="8277982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Leader-follower replication for fault tolerance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266819" y="7820782"/>
            <a:ext cx="3124200" cy="1016000"/>
          </a:xfrm>
          <a:custGeom>
            <a:avLst/>
            <a:gdLst/>
            <a:ahLst/>
            <a:cxnLst/>
            <a:rect l="l" t="t" r="r" b="b"/>
            <a:pathLst>
              <a:path w="3124200" h="1016000">
                <a:moveTo>
                  <a:pt x="101600" y="0"/>
                </a:moveTo>
                <a:lnTo>
                  <a:pt x="3022600" y="0"/>
                </a:lnTo>
                <a:cubicBezTo>
                  <a:pt x="3078675" y="0"/>
                  <a:pt x="3124200" y="45525"/>
                  <a:pt x="3124200" y="101600"/>
                </a:cubicBezTo>
                <a:lnTo>
                  <a:pt x="3124200" y="914400"/>
                </a:lnTo>
                <a:cubicBezTo>
                  <a:pt x="3124200" y="970475"/>
                  <a:pt x="3078675" y="1016000"/>
                  <a:pt x="30226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419219" y="7973182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ISR Management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19219" y="8277982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In-sync replicas for durability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808305" y="1579638"/>
            <a:ext cx="4937276" cy="4073676"/>
          </a:xfrm>
          <a:custGeom>
            <a:avLst/>
            <a:gdLst/>
            <a:ahLst/>
            <a:cxnLst/>
            <a:rect l="l" t="t" r="r" b="b"/>
            <a:pathLst>
              <a:path w="4937276" h="4073676">
                <a:moveTo>
                  <a:pt x="152396" y="0"/>
                </a:moveTo>
                <a:lnTo>
                  <a:pt x="4784880" y="0"/>
                </a:lnTo>
                <a:cubicBezTo>
                  <a:pt x="4869046" y="0"/>
                  <a:pt x="4937276" y="68230"/>
                  <a:pt x="4937276" y="152396"/>
                </a:cubicBezTo>
                <a:lnTo>
                  <a:pt x="4937276" y="3921280"/>
                </a:lnTo>
                <a:cubicBezTo>
                  <a:pt x="4937276" y="4005446"/>
                  <a:pt x="4869046" y="4073676"/>
                  <a:pt x="4784880" y="4073676"/>
                </a:cubicBezTo>
                <a:lnTo>
                  <a:pt x="152396" y="4073676"/>
                </a:lnTo>
                <a:cubicBezTo>
                  <a:pt x="68230" y="4073676"/>
                  <a:pt x="0" y="4005446"/>
                  <a:pt x="0" y="3921280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2D3136"/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048093" y="185117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1" name="Text 49"/>
          <p:cNvSpPr/>
          <p:nvPr/>
        </p:nvSpPr>
        <p:spPr>
          <a:xfrm>
            <a:off x="11308443" y="1787677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Resilience Patterns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016343" y="2295677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1117943" y="2397277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Circuit Breaker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17943" y="2702077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 fast when downstream services are unhealthy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016343" y="3108477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1117943" y="3210077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Retry with Exponential Backoff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117943" y="3514877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retry for transient failures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016343" y="3921277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1117943" y="4022877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Bulkhead Pattern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17943" y="4327677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Isolate failures to prevent cascading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016343" y="4734077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1117943" y="4835677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Timeout Management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117943" y="5140477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 resource exhaustion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808305" y="5815392"/>
            <a:ext cx="4937276" cy="2651276"/>
          </a:xfrm>
          <a:custGeom>
            <a:avLst/>
            <a:gdLst/>
            <a:ahLst/>
            <a:cxnLst/>
            <a:rect l="l" t="t" r="r" b="b"/>
            <a:pathLst>
              <a:path w="4937276" h="2651276">
                <a:moveTo>
                  <a:pt x="152395" y="0"/>
                </a:moveTo>
                <a:lnTo>
                  <a:pt x="4784881" y="0"/>
                </a:lnTo>
                <a:cubicBezTo>
                  <a:pt x="4869046" y="0"/>
                  <a:pt x="4937276" y="68230"/>
                  <a:pt x="4937276" y="152395"/>
                </a:cubicBezTo>
                <a:lnTo>
                  <a:pt x="4937276" y="2498881"/>
                </a:lnTo>
                <a:cubicBezTo>
                  <a:pt x="4937276" y="2582990"/>
                  <a:pt x="4868990" y="2651276"/>
                  <a:pt x="4784881" y="2651276"/>
                </a:cubicBezTo>
                <a:lnTo>
                  <a:pt x="152395" y="2651276"/>
                </a:lnTo>
                <a:cubicBezTo>
                  <a:pt x="68230" y="2651276"/>
                  <a:pt x="0" y="2583046"/>
                  <a:pt x="0" y="2498881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016343" y="6023431"/>
            <a:ext cx="463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 Targets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016343" y="6582231"/>
            <a:ext cx="99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SLA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4915772" y="6531431"/>
            <a:ext cx="73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016343" y="7039431"/>
            <a:ext cx="41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RTO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4890221" y="6988631"/>
            <a:ext cx="7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A6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 min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016343" y="7496631"/>
            <a:ext cx="41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RPO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4940719" y="7445831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 min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016343" y="7953831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MTTR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4792401" y="7903031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A6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 min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0808305" y="8628743"/>
            <a:ext cx="4937276" cy="1381276"/>
          </a:xfrm>
          <a:custGeom>
            <a:avLst/>
            <a:gdLst/>
            <a:ahLst/>
            <a:cxnLst/>
            <a:rect l="l" t="t" r="r" b="b"/>
            <a:pathLst>
              <a:path w="4937276" h="1381276">
                <a:moveTo>
                  <a:pt x="152396" y="0"/>
                </a:moveTo>
                <a:lnTo>
                  <a:pt x="4784880" y="0"/>
                </a:lnTo>
                <a:cubicBezTo>
                  <a:pt x="4869046" y="0"/>
                  <a:pt x="4937276" y="68230"/>
                  <a:pt x="4937276" y="152396"/>
                </a:cubicBezTo>
                <a:lnTo>
                  <a:pt x="4937276" y="1228880"/>
                </a:lnTo>
                <a:cubicBezTo>
                  <a:pt x="4937276" y="1313046"/>
                  <a:pt x="4869046" y="1381276"/>
                  <a:pt x="4784880" y="1381276"/>
                </a:cubicBezTo>
                <a:lnTo>
                  <a:pt x="152396" y="1381276"/>
                </a:lnTo>
                <a:cubicBezTo>
                  <a:pt x="68230" y="1381276"/>
                  <a:pt x="0" y="1313046"/>
                  <a:pt x="0" y="1228880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016343" y="8836782"/>
            <a:ext cx="463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Failover Automation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016343" y="9293982"/>
            <a:ext cx="461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failover with Kubernetes operators and Patroni for database, no manual intervention required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SCALABILITY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Scalability Enhancements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838" y="1579638"/>
            <a:ext cx="7477276" cy="3718076"/>
          </a:xfrm>
          <a:custGeom>
            <a:avLst/>
            <a:gdLst/>
            <a:ahLst/>
            <a:cxnLst/>
            <a:rect l="l" t="t" r="r" b="b"/>
            <a:pathLst>
              <a:path w="7477276" h="3718076">
                <a:moveTo>
                  <a:pt x="152404" y="0"/>
                </a:moveTo>
                <a:lnTo>
                  <a:pt x="7324872" y="0"/>
                </a:lnTo>
                <a:cubicBezTo>
                  <a:pt x="7409043" y="0"/>
                  <a:pt x="7477276" y="68234"/>
                  <a:pt x="7477276" y="152404"/>
                </a:cubicBezTo>
                <a:lnTo>
                  <a:pt x="7477276" y="3565672"/>
                </a:lnTo>
                <a:cubicBezTo>
                  <a:pt x="7477276" y="3649843"/>
                  <a:pt x="7409043" y="3718076"/>
                  <a:pt x="7324872" y="3718076"/>
                </a:cubicBezTo>
                <a:lnTo>
                  <a:pt x="152404" y="3718076"/>
                </a:lnTo>
                <a:cubicBezTo>
                  <a:pt x="68234" y="3718076"/>
                  <a:pt x="0" y="3649843"/>
                  <a:pt x="0" y="3565672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876" y="17876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" name="Shape 4"/>
          <p:cNvSpPr/>
          <p:nvPr/>
        </p:nvSpPr>
        <p:spPr>
          <a:xfrm>
            <a:off x="878039" y="192737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381276" y="1863877"/>
            <a:ext cx="378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Horizontal Pod Autoscaler (HPA)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0876" y="2448077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711200"/>
                </a:lnTo>
                <a:cubicBezTo>
                  <a:pt x="7061200" y="767275"/>
                  <a:pt x="7015675" y="812800"/>
                  <a:pt x="6959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73276" y="2600477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CPU-Based Scaling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2784" y="2625877"/>
            <a:ext cx="86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70%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3276" y="2905277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out when CPU &gt; 70%, scale in when &lt; 30%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0876" y="3362480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711200"/>
                </a:lnTo>
                <a:cubicBezTo>
                  <a:pt x="7061200" y="767275"/>
                  <a:pt x="7015675" y="812800"/>
                  <a:pt x="6959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73276" y="3514880"/>
            <a:ext cx="187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Memory-Based Scaling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37438" y="354028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80%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76" y="3819680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based on memory utilization patterns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0876" y="4276880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711200"/>
                </a:lnTo>
                <a:cubicBezTo>
                  <a:pt x="7061200" y="767275"/>
                  <a:pt x="7015675" y="812800"/>
                  <a:pt x="6959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73276" y="4429280"/>
            <a:ext cx="129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Metrics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23076" y="4454680"/>
            <a:ext cx="1485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Queue depth, latency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3276" y="4734080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based on Kafka consumer lag or request latency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2838" y="5510592"/>
            <a:ext cx="7477276" cy="3057676"/>
          </a:xfrm>
          <a:custGeom>
            <a:avLst/>
            <a:gdLst/>
            <a:ahLst/>
            <a:cxnLst/>
            <a:rect l="l" t="t" r="r" b="b"/>
            <a:pathLst>
              <a:path w="7477276" h="3057676">
                <a:moveTo>
                  <a:pt x="152395" y="0"/>
                </a:moveTo>
                <a:lnTo>
                  <a:pt x="7324882" y="0"/>
                </a:lnTo>
                <a:cubicBezTo>
                  <a:pt x="7409047" y="0"/>
                  <a:pt x="7477276" y="68229"/>
                  <a:pt x="7477276" y="152395"/>
                </a:cubicBezTo>
                <a:lnTo>
                  <a:pt x="7477276" y="2905282"/>
                </a:lnTo>
                <a:cubicBezTo>
                  <a:pt x="7477276" y="2989447"/>
                  <a:pt x="7409047" y="3057676"/>
                  <a:pt x="7324882" y="3057676"/>
                </a:cubicBezTo>
                <a:lnTo>
                  <a:pt x="152395" y="3057676"/>
                </a:lnTo>
                <a:cubicBezTo>
                  <a:pt x="68229" y="3057676"/>
                  <a:pt x="0" y="2989447"/>
                  <a:pt x="0" y="2905282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876" y="57186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Shape 20"/>
          <p:cNvSpPr/>
          <p:nvPr/>
        </p:nvSpPr>
        <p:spPr>
          <a:xfrm>
            <a:off x="878039" y="585832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42863"/>
                </a:moveTo>
                <a:lnTo>
                  <a:pt x="171450" y="71438"/>
                </a:lnTo>
                <a:lnTo>
                  <a:pt x="142875" y="71438"/>
                </a:lnTo>
                <a:lnTo>
                  <a:pt x="142875" y="42863"/>
                </a:lnTo>
                <a:lnTo>
                  <a:pt x="171450" y="42863"/>
                </a:lnTo>
                <a:close/>
                <a:moveTo>
                  <a:pt x="171450" y="100013"/>
                </a:moveTo>
                <a:lnTo>
                  <a:pt x="171450" y="128588"/>
                </a:lnTo>
                <a:lnTo>
                  <a:pt x="142875" y="128588"/>
                </a:lnTo>
                <a:lnTo>
                  <a:pt x="142875" y="100013"/>
                </a:lnTo>
                <a:lnTo>
                  <a:pt x="171450" y="100013"/>
                </a:lnTo>
                <a:close/>
                <a:moveTo>
                  <a:pt x="171450" y="157163"/>
                </a:moveTo>
                <a:lnTo>
                  <a:pt x="171450" y="185738"/>
                </a:lnTo>
                <a:lnTo>
                  <a:pt x="142875" y="185738"/>
                </a:lnTo>
                <a:lnTo>
                  <a:pt x="142875" y="157163"/>
                </a:lnTo>
                <a:lnTo>
                  <a:pt x="171450" y="157163"/>
                </a:lnTo>
                <a:close/>
                <a:moveTo>
                  <a:pt x="114300" y="128588"/>
                </a:moveTo>
                <a:lnTo>
                  <a:pt x="85725" y="128588"/>
                </a:lnTo>
                <a:lnTo>
                  <a:pt x="85725" y="100013"/>
                </a:lnTo>
                <a:lnTo>
                  <a:pt x="114300" y="100013"/>
                </a:lnTo>
                <a:lnTo>
                  <a:pt x="114300" y="128588"/>
                </a:lnTo>
                <a:close/>
                <a:moveTo>
                  <a:pt x="85725" y="157163"/>
                </a:moveTo>
                <a:lnTo>
                  <a:pt x="114300" y="157163"/>
                </a:lnTo>
                <a:lnTo>
                  <a:pt x="114300" y="185738"/>
                </a:lnTo>
                <a:lnTo>
                  <a:pt x="85725" y="185738"/>
                </a:lnTo>
                <a:lnTo>
                  <a:pt x="85725" y="157163"/>
                </a:lnTo>
                <a:close/>
                <a:moveTo>
                  <a:pt x="57150" y="128588"/>
                </a:moveTo>
                <a:lnTo>
                  <a:pt x="28575" y="128588"/>
                </a:lnTo>
                <a:lnTo>
                  <a:pt x="28575" y="100013"/>
                </a:lnTo>
                <a:lnTo>
                  <a:pt x="57150" y="100013"/>
                </a:lnTo>
                <a:lnTo>
                  <a:pt x="57150" y="128588"/>
                </a:lnTo>
                <a:close/>
                <a:moveTo>
                  <a:pt x="28575" y="157163"/>
                </a:moveTo>
                <a:lnTo>
                  <a:pt x="57150" y="157163"/>
                </a:lnTo>
                <a:lnTo>
                  <a:pt x="57150" y="185738"/>
                </a:lnTo>
                <a:lnTo>
                  <a:pt x="28575" y="185738"/>
                </a:lnTo>
                <a:lnTo>
                  <a:pt x="28575" y="157163"/>
                </a:lnTo>
                <a:close/>
                <a:moveTo>
                  <a:pt x="28575" y="71438"/>
                </a:moveTo>
                <a:lnTo>
                  <a:pt x="28575" y="42863"/>
                </a:lnTo>
                <a:lnTo>
                  <a:pt x="57150" y="42863"/>
                </a:lnTo>
                <a:lnTo>
                  <a:pt x="57150" y="71438"/>
                </a:lnTo>
                <a:lnTo>
                  <a:pt x="28575" y="71438"/>
                </a:lnTo>
                <a:close/>
                <a:moveTo>
                  <a:pt x="85725" y="71438"/>
                </a:moveTo>
                <a:lnTo>
                  <a:pt x="85725" y="42863"/>
                </a:lnTo>
                <a:lnTo>
                  <a:pt x="114300" y="42863"/>
                </a:lnTo>
                <a:lnTo>
                  <a:pt x="114300" y="71438"/>
                </a:lnTo>
                <a:lnTo>
                  <a:pt x="85725" y="71438"/>
                </a:lnTo>
                <a:close/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1381276" y="5794828"/>
            <a:ext cx="311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Kafka Partitioning Strategy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0876" y="6379028"/>
            <a:ext cx="3454400" cy="1016000"/>
          </a:xfrm>
          <a:custGeom>
            <a:avLst/>
            <a:gdLst/>
            <a:ahLst/>
            <a:cxnLst/>
            <a:rect l="l" t="t" r="r" b="b"/>
            <a:pathLst>
              <a:path w="3454400" h="1016000">
                <a:moveTo>
                  <a:pt x="101600" y="0"/>
                </a:moveTo>
                <a:lnTo>
                  <a:pt x="3352800" y="0"/>
                </a:lnTo>
                <a:cubicBezTo>
                  <a:pt x="3408875" y="0"/>
                  <a:pt x="3454400" y="45525"/>
                  <a:pt x="3454400" y="101600"/>
                </a:cubicBezTo>
                <a:lnTo>
                  <a:pt x="3454400" y="914400"/>
                </a:lnTo>
                <a:cubicBezTo>
                  <a:pt x="3454400" y="970475"/>
                  <a:pt x="3408875" y="1016000"/>
                  <a:pt x="3352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73276" y="6531428"/>
            <a:ext cx="323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 Partitioning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3276" y="6836228"/>
            <a:ext cx="3225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Partition by case_id or business_key for ordered processing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30700" y="6379028"/>
            <a:ext cx="3454400" cy="1016000"/>
          </a:xfrm>
          <a:custGeom>
            <a:avLst/>
            <a:gdLst/>
            <a:ahLst/>
            <a:cxnLst/>
            <a:rect l="l" t="t" r="r" b="b"/>
            <a:pathLst>
              <a:path w="3454400" h="1016000">
                <a:moveTo>
                  <a:pt x="101600" y="0"/>
                </a:moveTo>
                <a:lnTo>
                  <a:pt x="3352800" y="0"/>
                </a:lnTo>
                <a:cubicBezTo>
                  <a:pt x="3408875" y="0"/>
                  <a:pt x="3454400" y="45525"/>
                  <a:pt x="3454400" y="101600"/>
                </a:cubicBezTo>
                <a:lnTo>
                  <a:pt x="3454400" y="914400"/>
                </a:lnTo>
                <a:cubicBezTo>
                  <a:pt x="3454400" y="970475"/>
                  <a:pt x="3408875" y="1016000"/>
                  <a:pt x="3352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483100" y="6531428"/>
            <a:ext cx="323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Consumer Groups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83100" y="6836228"/>
            <a:ext cx="322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consumers for horizontal scaling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0876" y="7547428"/>
            <a:ext cx="3454400" cy="812800"/>
          </a:xfrm>
          <a:custGeom>
            <a:avLst/>
            <a:gdLst/>
            <a:ahLst/>
            <a:cxnLst/>
            <a:rect l="l" t="t" r="r" b="b"/>
            <a:pathLst>
              <a:path w="3454400" h="812800">
                <a:moveTo>
                  <a:pt x="101600" y="0"/>
                </a:moveTo>
                <a:lnTo>
                  <a:pt x="3352800" y="0"/>
                </a:lnTo>
                <a:cubicBezTo>
                  <a:pt x="3408875" y="0"/>
                  <a:pt x="3454400" y="45525"/>
                  <a:pt x="3454400" y="101600"/>
                </a:cubicBezTo>
                <a:lnTo>
                  <a:pt x="3454400" y="711200"/>
                </a:lnTo>
                <a:cubicBezTo>
                  <a:pt x="3454400" y="767275"/>
                  <a:pt x="3408875" y="812800"/>
                  <a:pt x="3352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73276" y="7699828"/>
            <a:ext cx="323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Partition Count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3276" y="8004628"/>
            <a:ext cx="322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12 partitions, scale to 48+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30700" y="7547428"/>
            <a:ext cx="3454400" cy="812800"/>
          </a:xfrm>
          <a:custGeom>
            <a:avLst/>
            <a:gdLst/>
            <a:ahLst/>
            <a:cxnLst/>
            <a:rect l="l" t="t" r="r" b="b"/>
            <a:pathLst>
              <a:path w="3454400" h="812800">
                <a:moveTo>
                  <a:pt x="101600" y="0"/>
                </a:moveTo>
                <a:lnTo>
                  <a:pt x="3352800" y="0"/>
                </a:lnTo>
                <a:cubicBezTo>
                  <a:pt x="3408875" y="0"/>
                  <a:pt x="3454400" y="45525"/>
                  <a:pt x="3454400" y="101600"/>
                </a:cubicBezTo>
                <a:lnTo>
                  <a:pt x="3454400" y="711200"/>
                </a:lnTo>
                <a:cubicBezTo>
                  <a:pt x="3454400" y="767275"/>
                  <a:pt x="3408875" y="812800"/>
                  <a:pt x="3352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483100" y="7699828"/>
            <a:ext cx="323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Replication Factor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3100" y="8004628"/>
            <a:ext cx="322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RF=3 for durability and availability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59838" y="1579638"/>
            <a:ext cx="7477276" cy="3718076"/>
          </a:xfrm>
          <a:custGeom>
            <a:avLst/>
            <a:gdLst/>
            <a:ahLst/>
            <a:cxnLst/>
            <a:rect l="l" t="t" r="r" b="b"/>
            <a:pathLst>
              <a:path w="7477276" h="3718076">
                <a:moveTo>
                  <a:pt x="152404" y="0"/>
                </a:moveTo>
                <a:lnTo>
                  <a:pt x="7324872" y="0"/>
                </a:lnTo>
                <a:cubicBezTo>
                  <a:pt x="7409043" y="0"/>
                  <a:pt x="7477276" y="68234"/>
                  <a:pt x="7477276" y="152404"/>
                </a:cubicBezTo>
                <a:lnTo>
                  <a:pt x="7477276" y="3565672"/>
                </a:lnTo>
                <a:cubicBezTo>
                  <a:pt x="7477276" y="3649843"/>
                  <a:pt x="7409043" y="3718076"/>
                  <a:pt x="7324872" y="3718076"/>
                </a:cubicBezTo>
                <a:lnTo>
                  <a:pt x="152404" y="3718076"/>
                </a:lnTo>
                <a:cubicBezTo>
                  <a:pt x="68234" y="3718076"/>
                  <a:pt x="0" y="3649843"/>
                  <a:pt x="0" y="3565672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67876" y="17876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8" name="Shape 36"/>
          <p:cNvSpPr/>
          <p:nvPr/>
        </p:nvSpPr>
        <p:spPr>
          <a:xfrm>
            <a:off x="8625039" y="192737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Text 37"/>
          <p:cNvSpPr/>
          <p:nvPr/>
        </p:nvSpPr>
        <p:spPr>
          <a:xfrm>
            <a:off x="9128276" y="1863877"/>
            <a:ext cx="267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Read Scaling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67876" y="2448077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711200"/>
                </a:lnTo>
                <a:cubicBezTo>
                  <a:pt x="7061200" y="767275"/>
                  <a:pt x="7015675" y="812800"/>
                  <a:pt x="6959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620276" y="2600477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Replicas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20276" y="2905277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2+ read replicas for Data View Service queries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67876" y="3362480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711200"/>
                </a:lnTo>
                <a:cubicBezTo>
                  <a:pt x="7061200" y="767275"/>
                  <a:pt x="7015675" y="812800"/>
                  <a:pt x="6959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620276" y="351488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Routing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20276" y="3819680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read queries to replicas, writes to primary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67876" y="4276880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711200"/>
                </a:lnTo>
                <a:cubicBezTo>
                  <a:pt x="7061200" y="767275"/>
                  <a:pt x="7015675" y="812800"/>
                  <a:pt x="6959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620276" y="442928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Pooling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20276" y="4734080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pgBouncer with 100+ connections per pool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59838" y="5510592"/>
            <a:ext cx="7477276" cy="3718076"/>
          </a:xfrm>
          <a:custGeom>
            <a:avLst/>
            <a:gdLst/>
            <a:ahLst/>
            <a:cxnLst/>
            <a:rect l="l" t="t" r="r" b="b"/>
            <a:pathLst>
              <a:path w="7477276" h="3718076">
                <a:moveTo>
                  <a:pt x="152404" y="0"/>
                </a:moveTo>
                <a:lnTo>
                  <a:pt x="7324872" y="0"/>
                </a:lnTo>
                <a:cubicBezTo>
                  <a:pt x="7409043" y="0"/>
                  <a:pt x="7477276" y="68234"/>
                  <a:pt x="7477276" y="152404"/>
                </a:cubicBezTo>
                <a:lnTo>
                  <a:pt x="7477276" y="3565672"/>
                </a:lnTo>
                <a:cubicBezTo>
                  <a:pt x="7477276" y="3649843"/>
                  <a:pt x="7409043" y="3718076"/>
                  <a:pt x="7324872" y="3718076"/>
                </a:cubicBezTo>
                <a:lnTo>
                  <a:pt x="152404" y="3718076"/>
                </a:lnTo>
                <a:cubicBezTo>
                  <a:pt x="68234" y="3718076"/>
                  <a:pt x="0" y="3649843"/>
                  <a:pt x="0" y="3565672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67876" y="57186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1" name="Shape 49"/>
          <p:cNvSpPr/>
          <p:nvPr/>
        </p:nvSpPr>
        <p:spPr>
          <a:xfrm>
            <a:off x="8625039" y="585832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Text 50"/>
          <p:cNvSpPr/>
          <p:nvPr/>
        </p:nvSpPr>
        <p:spPr>
          <a:xfrm>
            <a:off x="9128276" y="5794828"/>
            <a:ext cx="172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Caching Layer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67876" y="6379028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711200"/>
                </a:lnTo>
                <a:cubicBezTo>
                  <a:pt x="7061200" y="767275"/>
                  <a:pt x="7015675" y="812800"/>
                  <a:pt x="6959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620276" y="6531428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Cluster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620276" y="6836228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3-node Redis cluster for session and data caching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67876" y="7293428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711200"/>
                </a:lnTo>
                <a:cubicBezTo>
                  <a:pt x="7061200" y="767275"/>
                  <a:pt x="7015675" y="812800"/>
                  <a:pt x="6959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620276" y="7445828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Strategies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620276" y="7750628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Cache-aside for static configs, write-through for sessions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67876" y="8207828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101600" y="0"/>
                </a:moveTo>
                <a:lnTo>
                  <a:pt x="6959600" y="0"/>
                </a:lnTo>
                <a:cubicBezTo>
                  <a:pt x="7015675" y="0"/>
                  <a:pt x="7061200" y="45525"/>
                  <a:pt x="7061200" y="101600"/>
                </a:cubicBezTo>
                <a:lnTo>
                  <a:pt x="7061200" y="711200"/>
                </a:lnTo>
                <a:cubicBezTo>
                  <a:pt x="7061200" y="767275"/>
                  <a:pt x="7015675" y="812800"/>
                  <a:pt x="6959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620276" y="8360228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TTL Configuration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20276" y="8665028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data: 1 hour, sessions: 30 minutes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59838" y="9441546"/>
            <a:ext cx="7477276" cy="2702076"/>
          </a:xfrm>
          <a:custGeom>
            <a:avLst/>
            <a:gdLst/>
            <a:ahLst/>
            <a:cxnLst/>
            <a:rect l="l" t="t" r="r" b="b"/>
            <a:pathLst>
              <a:path w="7477276" h="2702076">
                <a:moveTo>
                  <a:pt x="152397" y="0"/>
                </a:moveTo>
                <a:lnTo>
                  <a:pt x="7324879" y="0"/>
                </a:lnTo>
                <a:cubicBezTo>
                  <a:pt x="7408989" y="0"/>
                  <a:pt x="7477276" y="68287"/>
                  <a:pt x="7477276" y="152397"/>
                </a:cubicBezTo>
                <a:lnTo>
                  <a:pt x="7477276" y="2549679"/>
                </a:lnTo>
                <a:cubicBezTo>
                  <a:pt x="7477276" y="2633846"/>
                  <a:pt x="7409046" y="2702076"/>
                  <a:pt x="7324879" y="2702076"/>
                </a:cubicBezTo>
                <a:lnTo>
                  <a:pt x="152397" y="2702076"/>
                </a:lnTo>
                <a:cubicBezTo>
                  <a:pt x="68287" y="2702076"/>
                  <a:pt x="0" y="2633789"/>
                  <a:pt x="0" y="25496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2D3136"/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99626" y="97130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4" name="Text 62"/>
          <p:cNvSpPr/>
          <p:nvPr/>
        </p:nvSpPr>
        <p:spPr>
          <a:xfrm>
            <a:off x="8759976" y="9649582"/>
            <a:ext cx="688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Metrics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67876" y="10157582"/>
            <a:ext cx="3454400" cy="812800"/>
          </a:xfrm>
          <a:custGeom>
            <a:avLst/>
            <a:gdLst/>
            <a:ahLst/>
            <a:cxnLst/>
            <a:rect l="l" t="t" r="r" b="b"/>
            <a:pathLst>
              <a:path w="3454400" h="812800">
                <a:moveTo>
                  <a:pt x="101600" y="0"/>
                </a:moveTo>
                <a:lnTo>
                  <a:pt x="3352800" y="0"/>
                </a:lnTo>
                <a:cubicBezTo>
                  <a:pt x="3408875" y="0"/>
                  <a:pt x="3454400" y="45525"/>
                  <a:pt x="3454400" y="101600"/>
                </a:cubicBezTo>
                <a:lnTo>
                  <a:pt x="3454400" y="711200"/>
                </a:lnTo>
                <a:cubicBezTo>
                  <a:pt x="3454400" y="767275"/>
                  <a:pt x="3408875" y="812800"/>
                  <a:pt x="3352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493276" y="10259182"/>
            <a:ext cx="340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10x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531376" y="10665582"/>
            <a:ext cx="332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Spike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2077700" y="10157582"/>
            <a:ext cx="3454400" cy="812800"/>
          </a:xfrm>
          <a:custGeom>
            <a:avLst/>
            <a:gdLst/>
            <a:ahLst/>
            <a:cxnLst/>
            <a:rect l="l" t="t" r="r" b="b"/>
            <a:pathLst>
              <a:path w="3454400" h="812800">
                <a:moveTo>
                  <a:pt x="101600" y="0"/>
                </a:moveTo>
                <a:lnTo>
                  <a:pt x="3352800" y="0"/>
                </a:lnTo>
                <a:cubicBezTo>
                  <a:pt x="3408875" y="0"/>
                  <a:pt x="3454400" y="45525"/>
                  <a:pt x="3454400" y="101600"/>
                </a:cubicBezTo>
                <a:lnTo>
                  <a:pt x="3454400" y="711200"/>
                </a:lnTo>
                <a:cubicBezTo>
                  <a:pt x="3454400" y="767275"/>
                  <a:pt x="3408875" y="812800"/>
                  <a:pt x="3352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2103100" y="10259182"/>
            <a:ext cx="340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6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2141200" y="10665582"/>
            <a:ext cx="332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Pods/Service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467876" y="11122782"/>
            <a:ext cx="3454400" cy="812800"/>
          </a:xfrm>
          <a:custGeom>
            <a:avLst/>
            <a:gdLst/>
            <a:ahLst/>
            <a:cxnLst/>
            <a:rect l="l" t="t" r="r" b="b"/>
            <a:pathLst>
              <a:path w="3454400" h="812800">
                <a:moveTo>
                  <a:pt x="101600" y="0"/>
                </a:moveTo>
                <a:lnTo>
                  <a:pt x="3352800" y="0"/>
                </a:lnTo>
                <a:cubicBezTo>
                  <a:pt x="3408875" y="0"/>
                  <a:pt x="3454400" y="45525"/>
                  <a:pt x="3454400" y="101600"/>
                </a:cubicBezTo>
                <a:lnTo>
                  <a:pt x="3454400" y="711200"/>
                </a:lnTo>
                <a:cubicBezTo>
                  <a:pt x="3454400" y="767275"/>
                  <a:pt x="3408875" y="812800"/>
                  <a:pt x="3352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8493276" y="11224382"/>
            <a:ext cx="340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531376" y="11630782"/>
            <a:ext cx="332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Kafka Partitions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2077700" y="11122782"/>
            <a:ext cx="3454400" cy="812800"/>
          </a:xfrm>
          <a:custGeom>
            <a:avLst/>
            <a:gdLst/>
            <a:ahLst/>
            <a:cxnLst/>
            <a:rect l="l" t="t" r="r" b="b"/>
            <a:pathLst>
              <a:path w="3454400" h="812800">
                <a:moveTo>
                  <a:pt x="101600" y="0"/>
                </a:moveTo>
                <a:lnTo>
                  <a:pt x="3352800" y="0"/>
                </a:lnTo>
                <a:cubicBezTo>
                  <a:pt x="3408875" y="0"/>
                  <a:pt x="3454400" y="45525"/>
                  <a:pt x="3454400" y="101600"/>
                </a:cubicBezTo>
                <a:lnTo>
                  <a:pt x="3454400" y="711200"/>
                </a:lnTo>
                <a:cubicBezTo>
                  <a:pt x="3454400" y="767275"/>
                  <a:pt x="3408875" y="812800"/>
                  <a:pt x="3352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2103100" y="11224382"/>
            <a:ext cx="340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6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3x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2141200" y="11630782"/>
            <a:ext cx="332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Replicas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Performance Optimizations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838" y="1579638"/>
            <a:ext cx="4937276" cy="4226076"/>
          </a:xfrm>
          <a:custGeom>
            <a:avLst/>
            <a:gdLst/>
            <a:ahLst/>
            <a:cxnLst/>
            <a:rect l="l" t="t" r="r" b="b"/>
            <a:pathLst>
              <a:path w="4937276" h="4226076">
                <a:moveTo>
                  <a:pt x="152392" y="0"/>
                </a:moveTo>
                <a:lnTo>
                  <a:pt x="4784884" y="0"/>
                </a:lnTo>
                <a:cubicBezTo>
                  <a:pt x="4869048" y="0"/>
                  <a:pt x="4937276" y="68228"/>
                  <a:pt x="4937276" y="152392"/>
                </a:cubicBezTo>
                <a:lnTo>
                  <a:pt x="4937276" y="4073684"/>
                </a:lnTo>
                <a:cubicBezTo>
                  <a:pt x="4937276" y="4157848"/>
                  <a:pt x="4869048" y="4226076"/>
                  <a:pt x="4784884" y="4226076"/>
                </a:cubicBezTo>
                <a:lnTo>
                  <a:pt x="152392" y="4226076"/>
                </a:lnTo>
                <a:cubicBezTo>
                  <a:pt x="68228" y="4226076"/>
                  <a:pt x="0" y="4157848"/>
                  <a:pt x="0" y="4073684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876" y="17876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" name="Shape 4"/>
          <p:cNvSpPr/>
          <p:nvPr/>
        </p:nvSpPr>
        <p:spPr>
          <a:xfrm>
            <a:off x="863751" y="19273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381276" y="1863880"/>
            <a:ext cx="240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Optimization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0876" y="24480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476" y="25496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Indexing Strategy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476" y="28544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B-tree indexes on case_id, business_proc_id, created_date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0876" y="32608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476" y="33624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Optimization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476" y="36672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 ANALYZE for slow queries, optimize JOINs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0876" y="40736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476" y="41752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Partitioning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476" y="44800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partitioning by date for large tables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0876" y="48864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2476" y="49880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Vacuum &amp; Analyze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476" y="52928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maintenance jobs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2838" y="5967792"/>
            <a:ext cx="4937276" cy="2600476"/>
          </a:xfrm>
          <a:custGeom>
            <a:avLst/>
            <a:gdLst/>
            <a:ahLst/>
            <a:cxnLst/>
            <a:rect l="l" t="t" r="r" b="b"/>
            <a:pathLst>
              <a:path w="4937276" h="2600476">
                <a:moveTo>
                  <a:pt x="152388" y="0"/>
                </a:moveTo>
                <a:lnTo>
                  <a:pt x="4784888" y="0"/>
                </a:lnTo>
                <a:cubicBezTo>
                  <a:pt x="4869050" y="0"/>
                  <a:pt x="4937276" y="68226"/>
                  <a:pt x="4937276" y="152388"/>
                </a:cubicBezTo>
                <a:lnTo>
                  <a:pt x="4937276" y="2448088"/>
                </a:lnTo>
                <a:cubicBezTo>
                  <a:pt x="4937276" y="2532250"/>
                  <a:pt x="4869050" y="2600476"/>
                  <a:pt x="4784888" y="2600476"/>
                </a:cubicBezTo>
                <a:lnTo>
                  <a:pt x="152388" y="2600476"/>
                </a:lnTo>
                <a:cubicBezTo>
                  <a:pt x="68226" y="2600476"/>
                  <a:pt x="0" y="2532250"/>
                  <a:pt x="0" y="2448088"/>
                </a:cubicBezTo>
                <a:lnTo>
                  <a:pt x="0" y="152388"/>
                </a:lnTo>
                <a:cubicBezTo>
                  <a:pt x="0" y="68226"/>
                  <a:pt x="68226" y="0"/>
                  <a:pt x="15238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876" y="61758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751" y="63155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42863"/>
                </a:moveTo>
                <a:cubicBezTo>
                  <a:pt x="0" y="34960"/>
                  <a:pt x="6385" y="28575"/>
                  <a:pt x="14288" y="28575"/>
                </a:cubicBezTo>
                <a:lnTo>
                  <a:pt x="185738" y="28575"/>
                </a:lnTo>
                <a:cubicBezTo>
                  <a:pt x="193640" y="28575"/>
                  <a:pt x="200025" y="34960"/>
                  <a:pt x="200025" y="42863"/>
                </a:cubicBezTo>
                <a:cubicBezTo>
                  <a:pt x="200025" y="50765"/>
                  <a:pt x="193640" y="57150"/>
                  <a:pt x="185738" y="57150"/>
                </a:cubicBezTo>
                <a:lnTo>
                  <a:pt x="14288" y="57150"/>
                </a:lnTo>
                <a:cubicBezTo>
                  <a:pt x="6385" y="57150"/>
                  <a:pt x="0" y="50765"/>
                  <a:pt x="0" y="42863"/>
                </a:cubicBezTo>
                <a:close/>
                <a:moveTo>
                  <a:pt x="28575" y="114300"/>
                </a:moveTo>
                <a:cubicBezTo>
                  <a:pt x="28575" y="106397"/>
                  <a:pt x="34960" y="100013"/>
                  <a:pt x="42863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42863" y="128588"/>
                </a:lnTo>
                <a:cubicBezTo>
                  <a:pt x="34960" y="128588"/>
                  <a:pt x="28575" y="122203"/>
                  <a:pt x="28575" y="114300"/>
                </a:cubicBezTo>
                <a:close/>
                <a:moveTo>
                  <a:pt x="200025" y="185738"/>
                </a:moveTo>
                <a:cubicBezTo>
                  <a:pt x="200025" y="193640"/>
                  <a:pt x="193640" y="200025"/>
                  <a:pt x="185738" y="200025"/>
                </a:cubicBezTo>
                <a:lnTo>
                  <a:pt x="14288" y="200025"/>
                </a:lnTo>
                <a:cubicBezTo>
                  <a:pt x="6385" y="200025"/>
                  <a:pt x="0" y="193640"/>
                  <a:pt x="0" y="185738"/>
                </a:cubicBezTo>
                <a:cubicBezTo>
                  <a:pt x="0" y="17783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77835"/>
                  <a:pt x="200025" y="1857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1381276" y="6252028"/>
            <a:ext cx="201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Kafka Optimization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0876" y="6836228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476" y="6937828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Processing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476" y="7242628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size: 1000, linger.ms: 10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0876" y="7649028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476" y="7750628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476" y="8055428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LZ4 compression for high throughput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60572" y="1579638"/>
            <a:ext cx="4937276" cy="3413276"/>
          </a:xfrm>
          <a:custGeom>
            <a:avLst/>
            <a:gdLst/>
            <a:ahLst/>
            <a:cxnLst/>
            <a:rect l="l" t="t" r="r" b="b"/>
            <a:pathLst>
              <a:path w="4937276" h="3413276">
                <a:moveTo>
                  <a:pt x="152403" y="0"/>
                </a:moveTo>
                <a:lnTo>
                  <a:pt x="4784873" y="0"/>
                </a:lnTo>
                <a:cubicBezTo>
                  <a:pt x="4869043" y="0"/>
                  <a:pt x="4937276" y="68233"/>
                  <a:pt x="4937276" y="152403"/>
                </a:cubicBezTo>
                <a:lnTo>
                  <a:pt x="4937276" y="3260873"/>
                </a:lnTo>
                <a:cubicBezTo>
                  <a:pt x="4937276" y="3345043"/>
                  <a:pt x="4869043" y="3413276"/>
                  <a:pt x="4784873" y="3413276"/>
                </a:cubicBezTo>
                <a:lnTo>
                  <a:pt x="152403" y="3413276"/>
                </a:lnTo>
                <a:cubicBezTo>
                  <a:pt x="68233" y="3413276"/>
                  <a:pt x="0" y="3345043"/>
                  <a:pt x="0" y="326087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8610" y="17876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2" name="Shape 30"/>
          <p:cNvSpPr/>
          <p:nvPr/>
        </p:nvSpPr>
        <p:spPr>
          <a:xfrm>
            <a:off x="5997197" y="192738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6529010" y="186388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Optimization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68610" y="24480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970210" y="25496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Caching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70210" y="28544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static configs for 5 minutes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68610" y="32608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970210" y="33624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70210" y="36672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Gzip compression for responses &gt; 1KB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68610" y="40736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970210" y="41752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70210" y="44800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 req/min per client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660572" y="5154992"/>
            <a:ext cx="4937276" cy="3413276"/>
          </a:xfrm>
          <a:custGeom>
            <a:avLst/>
            <a:gdLst/>
            <a:ahLst/>
            <a:cxnLst/>
            <a:rect l="l" t="t" r="r" b="b"/>
            <a:pathLst>
              <a:path w="4937276" h="3413276">
                <a:moveTo>
                  <a:pt x="152403" y="0"/>
                </a:moveTo>
                <a:lnTo>
                  <a:pt x="4784873" y="0"/>
                </a:lnTo>
                <a:cubicBezTo>
                  <a:pt x="4869043" y="0"/>
                  <a:pt x="4937276" y="68233"/>
                  <a:pt x="4937276" y="152403"/>
                </a:cubicBezTo>
                <a:lnTo>
                  <a:pt x="4937276" y="3260873"/>
                </a:lnTo>
                <a:cubicBezTo>
                  <a:pt x="4937276" y="3345043"/>
                  <a:pt x="4869043" y="3413276"/>
                  <a:pt x="4784873" y="3413276"/>
                </a:cubicBezTo>
                <a:lnTo>
                  <a:pt x="152403" y="3413276"/>
                </a:lnTo>
                <a:cubicBezTo>
                  <a:pt x="68233" y="3413276"/>
                  <a:pt x="0" y="3345043"/>
                  <a:pt x="0" y="326087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68610" y="53630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5" name="Shape 43"/>
          <p:cNvSpPr/>
          <p:nvPr/>
        </p:nvSpPr>
        <p:spPr>
          <a:xfrm>
            <a:off x="6011485" y="55027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Text 44"/>
          <p:cNvSpPr/>
          <p:nvPr/>
        </p:nvSpPr>
        <p:spPr>
          <a:xfrm>
            <a:off x="6529010" y="5439228"/>
            <a:ext cx="23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Optimization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868610" y="6023428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970210" y="6125028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970210" y="6429828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 static assets from CDN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68610" y="6836228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970210" y="6937828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Lazy Loading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970210" y="7242628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modules on demand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868610" y="7649028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970210" y="7750628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Bundle Optimization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970210" y="8055428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 shaking, code splitting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808305" y="1579638"/>
            <a:ext cx="4937276" cy="3565676"/>
          </a:xfrm>
          <a:custGeom>
            <a:avLst/>
            <a:gdLst/>
            <a:ahLst/>
            <a:cxnLst/>
            <a:rect l="l" t="t" r="r" b="b"/>
            <a:pathLst>
              <a:path w="4937276" h="3565676">
                <a:moveTo>
                  <a:pt x="152397" y="0"/>
                </a:moveTo>
                <a:lnTo>
                  <a:pt x="4784879" y="0"/>
                </a:lnTo>
                <a:cubicBezTo>
                  <a:pt x="4869046" y="0"/>
                  <a:pt x="4937276" y="68230"/>
                  <a:pt x="4937276" y="152397"/>
                </a:cubicBezTo>
                <a:lnTo>
                  <a:pt x="4937276" y="3413279"/>
                </a:lnTo>
                <a:cubicBezTo>
                  <a:pt x="4937276" y="3497446"/>
                  <a:pt x="4869046" y="3565676"/>
                  <a:pt x="4784879" y="3565676"/>
                </a:cubicBezTo>
                <a:lnTo>
                  <a:pt x="152397" y="3565676"/>
                </a:lnTo>
                <a:cubicBezTo>
                  <a:pt x="68230" y="3565676"/>
                  <a:pt x="0" y="3497446"/>
                  <a:pt x="0" y="341327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2D3136"/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48093" y="18511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8" name="Text 56"/>
          <p:cNvSpPr/>
          <p:nvPr/>
        </p:nvSpPr>
        <p:spPr>
          <a:xfrm>
            <a:off x="11308443" y="178768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Targets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016343" y="2295680"/>
            <a:ext cx="113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4944272" y="229568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016343" y="2600480"/>
            <a:ext cx="4521200" cy="101600"/>
          </a:xfrm>
          <a:custGeom>
            <a:avLst/>
            <a:gdLst/>
            <a:ahLst/>
            <a:cxnLst/>
            <a:rect l="l" t="t" r="r" b="b"/>
            <a:pathLst>
              <a:path w="4521200" h="101600">
                <a:moveTo>
                  <a:pt x="50800" y="0"/>
                </a:moveTo>
                <a:lnTo>
                  <a:pt x="4470400" y="0"/>
                </a:lnTo>
                <a:cubicBezTo>
                  <a:pt x="4498437" y="0"/>
                  <a:pt x="4521200" y="22763"/>
                  <a:pt x="4521200" y="50800"/>
                </a:cubicBezTo>
                <a:lnTo>
                  <a:pt x="4521200" y="50800"/>
                </a:lnTo>
                <a:cubicBezTo>
                  <a:pt x="4521200" y="78837"/>
                  <a:pt x="4498437" y="101600"/>
                  <a:pt x="4470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2" name="Shape 60"/>
          <p:cNvSpPr/>
          <p:nvPr/>
        </p:nvSpPr>
        <p:spPr>
          <a:xfrm>
            <a:off x="11016343" y="2600480"/>
            <a:ext cx="4064000" cy="101600"/>
          </a:xfrm>
          <a:custGeom>
            <a:avLst/>
            <a:gdLst/>
            <a:ahLst/>
            <a:cxnLst/>
            <a:rect l="l" t="t" r="r" b="b"/>
            <a:pathLst>
              <a:path w="4064000" h="101600">
                <a:moveTo>
                  <a:pt x="50800" y="0"/>
                </a:moveTo>
                <a:lnTo>
                  <a:pt x="4013200" y="0"/>
                </a:lnTo>
                <a:cubicBezTo>
                  <a:pt x="4041237" y="0"/>
                  <a:pt x="4064000" y="22763"/>
                  <a:pt x="4064000" y="50800"/>
                </a:cubicBezTo>
                <a:lnTo>
                  <a:pt x="4064000" y="50800"/>
                </a:lnTo>
                <a:cubicBezTo>
                  <a:pt x="4064000" y="78837"/>
                  <a:pt x="4041237" y="101600"/>
                  <a:pt x="40132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3" name="Text 61"/>
          <p:cNvSpPr/>
          <p:nvPr/>
        </p:nvSpPr>
        <p:spPr>
          <a:xfrm>
            <a:off x="11016343" y="2854480"/>
            <a:ext cx="87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 Load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5293597" y="285448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6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1016343" y="3159280"/>
            <a:ext cx="4521200" cy="101600"/>
          </a:xfrm>
          <a:custGeom>
            <a:avLst/>
            <a:gdLst/>
            <a:ahLst/>
            <a:cxnLst/>
            <a:rect l="l" t="t" r="r" b="b"/>
            <a:pathLst>
              <a:path w="4521200" h="101600">
                <a:moveTo>
                  <a:pt x="50800" y="0"/>
                </a:moveTo>
                <a:lnTo>
                  <a:pt x="4470400" y="0"/>
                </a:lnTo>
                <a:cubicBezTo>
                  <a:pt x="4498437" y="0"/>
                  <a:pt x="4521200" y="22763"/>
                  <a:pt x="4521200" y="50800"/>
                </a:cubicBezTo>
                <a:lnTo>
                  <a:pt x="4521200" y="50800"/>
                </a:lnTo>
                <a:cubicBezTo>
                  <a:pt x="4521200" y="78837"/>
                  <a:pt x="4498437" y="101600"/>
                  <a:pt x="4470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16343" y="3159280"/>
            <a:ext cx="3835400" cy="101600"/>
          </a:xfrm>
          <a:custGeom>
            <a:avLst/>
            <a:gdLst/>
            <a:ahLst/>
            <a:cxnLst/>
            <a:rect l="l" t="t" r="r" b="b"/>
            <a:pathLst>
              <a:path w="3835400" h="101600">
                <a:moveTo>
                  <a:pt x="50800" y="0"/>
                </a:moveTo>
                <a:lnTo>
                  <a:pt x="3784600" y="0"/>
                </a:lnTo>
                <a:cubicBezTo>
                  <a:pt x="3812637" y="0"/>
                  <a:pt x="3835400" y="22763"/>
                  <a:pt x="3835400" y="50800"/>
                </a:cubicBezTo>
                <a:lnTo>
                  <a:pt x="3835400" y="50800"/>
                </a:lnTo>
                <a:cubicBezTo>
                  <a:pt x="3835400" y="78837"/>
                  <a:pt x="3812637" y="101600"/>
                  <a:pt x="37846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7" name="Text 65"/>
          <p:cNvSpPr/>
          <p:nvPr/>
        </p:nvSpPr>
        <p:spPr>
          <a:xfrm>
            <a:off x="11016343" y="3413280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 Query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5020320" y="3413280"/>
            <a:ext cx="60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&lt;50ms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1016343" y="3718080"/>
            <a:ext cx="4521200" cy="101600"/>
          </a:xfrm>
          <a:custGeom>
            <a:avLst/>
            <a:gdLst/>
            <a:ahLst/>
            <a:cxnLst/>
            <a:rect l="l" t="t" r="r" b="b"/>
            <a:pathLst>
              <a:path w="4521200" h="101600">
                <a:moveTo>
                  <a:pt x="50800" y="0"/>
                </a:moveTo>
                <a:lnTo>
                  <a:pt x="4470400" y="0"/>
                </a:lnTo>
                <a:cubicBezTo>
                  <a:pt x="4498437" y="0"/>
                  <a:pt x="4521200" y="22763"/>
                  <a:pt x="4521200" y="50800"/>
                </a:cubicBezTo>
                <a:lnTo>
                  <a:pt x="4521200" y="50800"/>
                </a:lnTo>
                <a:cubicBezTo>
                  <a:pt x="4521200" y="78837"/>
                  <a:pt x="4498437" y="101600"/>
                  <a:pt x="4470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0" name="Shape 68"/>
          <p:cNvSpPr/>
          <p:nvPr/>
        </p:nvSpPr>
        <p:spPr>
          <a:xfrm>
            <a:off x="11016343" y="3718080"/>
            <a:ext cx="4292600" cy="101600"/>
          </a:xfrm>
          <a:custGeom>
            <a:avLst/>
            <a:gdLst/>
            <a:ahLst/>
            <a:cxnLst/>
            <a:rect l="l" t="t" r="r" b="b"/>
            <a:pathLst>
              <a:path w="4292600" h="101600">
                <a:moveTo>
                  <a:pt x="50800" y="0"/>
                </a:moveTo>
                <a:lnTo>
                  <a:pt x="4241800" y="0"/>
                </a:lnTo>
                <a:cubicBezTo>
                  <a:pt x="4269837" y="0"/>
                  <a:pt x="4292600" y="22763"/>
                  <a:pt x="4292600" y="50800"/>
                </a:cubicBezTo>
                <a:lnTo>
                  <a:pt x="4292600" y="50800"/>
                </a:lnTo>
                <a:cubicBezTo>
                  <a:pt x="4292600" y="78837"/>
                  <a:pt x="4269837" y="101600"/>
                  <a:pt x="4241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1" name="Text 69"/>
          <p:cNvSpPr/>
          <p:nvPr/>
        </p:nvSpPr>
        <p:spPr>
          <a:xfrm>
            <a:off x="11016343" y="397208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Kafka Latency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5059630" y="3972080"/>
            <a:ext cx="55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6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&lt;10ms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1016343" y="4276880"/>
            <a:ext cx="4521200" cy="101600"/>
          </a:xfrm>
          <a:custGeom>
            <a:avLst/>
            <a:gdLst/>
            <a:ahLst/>
            <a:cxnLst/>
            <a:rect l="l" t="t" r="r" b="b"/>
            <a:pathLst>
              <a:path w="4521200" h="101600">
                <a:moveTo>
                  <a:pt x="50800" y="0"/>
                </a:moveTo>
                <a:lnTo>
                  <a:pt x="4470400" y="0"/>
                </a:lnTo>
                <a:cubicBezTo>
                  <a:pt x="4498437" y="0"/>
                  <a:pt x="4521200" y="22763"/>
                  <a:pt x="4521200" y="50800"/>
                </a:cubicBezTo>
                <a:lnTo>
                  <a:pt x="4521200" y="50800"/>
                </a:lnTo>
                <a:cubicBezTo>
                  <a:pt x="4521200" y="78837"/>
                  <a:pt x="4498437" y="101600"/>
                  <a:pt x="4470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4" name="Shape 72"/>
          <p:cNvSpPr/>
          <p:nvPr/>
        </p:nvSpPr>
        <p:spPr>
          <a:xfrm>
            <a:off x="11016343" y="4276880"/>
            <a:ext cx="4152900" cy="101600"/>
          </a:xfrm>
          <a:custGeom>
            <a:avLst/>
            <a:gdLst/>
            <a:ahLst/>
            <a:cxnLst/>
            <a:rect l="l" t="t" r="r" b="b"/>
            <a:pathLst>
              <a:path w="4152900" h="101600">
                <a:moveTo>
                  <a:pt x="50800" y="0"/>
                </a:moveTo>
                <a:lnTo>
                  <a:pt x="4102100" y="0"/>
                </a:lnTo>
                <a:cubicBezTo>
                  <a:pt x="4130137" y="0"/>
                  <a:pt x="4152900" y="22763"/>
                  <a:pt x="4152900" y="50800"/>
                </a:cubicBezTo>
                <a:lnTo>
                  <a:pt x="4152900" y="50800"/>
                </a:lnTo>
                <a:cubicBezTo>
                  <a:pt x="4152900" y="78837"/>
                  <a:pt x="4130137" y="101600"/>
                  <a:pt x="41021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75" name="Text 73"/>
          <p:cNvSpPr/>
          <p:nvPr/>
        </p:nvSpPr>
        <p:spPr>
          <a:xfrm>
            <a:off x="11016343" y="453088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4926658" y="453088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 TPS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1016343" y="4835680"/>
            <a:ext cx="4521200" cy="101600"/>
          </a:xfrm>
          <a:custGeom>
            <a:avLst/>
            <a:gdLst/>
            <a:ahLst/>
            <a:cxnLst/>
            <a:rect l="l" t="t" r="r" b="b"/>
            <a:pathLst>
              <a:path w="4521200" h="101600">
                <a:moveTo>
                  <a:pt x="50800" y="0"/>
                </a:moveTo>
                <a:lnTo>
                  <a:pt x="4470400" y="0"/>
                </a:lnTo>
                <a:cubicBezTo>
                  <a:pt x="4498437" y="0"/>
                  <a:pt x="4521200" y="22763"/>
                  <a:pt x="4521200" y="50800"/>
                </a:cubicBezTo>
                <a:lnTo>
                  <a:pt x="4521200" y="50800"/>
                </a:lnTo>
                <a:cubicBezTo>
                  <a:pt x="4521200" y="78837"/>
                  <a:pt x="4498437" y="101600"/>
                  <a:pt x="4470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8" name="Shape 76"/>
          <p:cNvSpPr/>
          <p:nvPr/>
        </p:nvSpPr>
        <p:spPr>
          <a:xfrm>
            <a:off x="11016343" y="4835680"/>
            <a:ext cx="3390900" cy="101600"/>
          </a:xfrm>
          <a:custGeom>
            <a:avLst/>
            <a:gdLst/>
            <a:ahLst/>
            <a:cxnLst/>
            <a:rect l="l" t="t" r="r" b="b"/>
            <a:pathLst>
              <a:path w="3390900" h="101600">
                <a:moveTo>
                  <a:pt x="50800" y="0"/>
                </a:moveTo>
                <a:lnTo>
                  <a:pt x="3340100" y="0"/>
                </a:lnTo>
                <a:cubicBezTo>
                  <a:pt x="3368137" y="0"/>
                  <a:pt x="3390900" y="22763"/>
                  <a:pt x="3390900" y="50800"/>
                </a:cubicBezTo>
                <a:lnTo>
                  <a:pt x="3390900" y="50800"/>
                </a:lnTo>
                <a:cubicBezTo>
                  <a:pt x="3390900" y="78837"/>
                  <a:pt x="3368137" y="101600"/>
                  <a:pt x="33401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9" name="Shape 77"/>
          <p:cNvSpPr/>
          <p:nvPr/>
        </p:nvSpPr>
        <p:spPr>
          <a:xfrm>
            <a:off x="10808305" y="5307392"/>
            <a:ext cx="4937276" cy="1533676"/>
          </a:xfrm>
          <a:custGeom>
            <a:avLst/>
            <a:gdLst/>
            <a:ahLst/>
            <a:cxnLst/>
            <a:rect l="l" t="t" r="r" b="b"/>
            <a:pathLst>
              <a:path w="4937276" h="1533676">
                <a:moveTo>
                  <a:pt x="152401" y="0"/>
                </a:moveTo>
                <a:lnTo>
                  <a:pt x="4784875" y="0"/>
                </a:lnTo>
                <a:cubicBezTo>
                  <a:pt x="4869044" y="0"/>
                  <a:pt x="4937276" y="68232"/>
                  <a:pt x="4937276" y="152401"/>
                </a:cubicBezTo>
                <a:lnTo>
                  <a:pt x="4937276" y="1381275"/>
                </a:lnTo>
                <a:cubicBezTo>
                  <a:pt x="4937276" y="1465444"/>
                  <a:pt x="4869044" y="1533676"/>
                  <a:pt x="4784875" y="1533676"/>
                </a:cubicBezTo>
                <a:lnTo>
                  <a:pt x="152401" y="1533676"/>
                </a:lnTo>
                <a:cubicBezTo>
                  <a:pt x="68232" y="1533676"/>
                  <a:pt x="0" y="1465444"/>
                  <a:pt x="0" y="1381275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016343" y="5515428"/>
            <a:ext cx="463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Processing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1016343" y="5972628"/>
            <a:ext cx="461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Offload non-critical operations to background workers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1016343" y="6328228"/>
            <a:ext cx="939800" cy="304800"/>
          </a:xfrm>
          <a:custGeom>
            <a:avLst/>
            <a:gdLst/>
            <a:ahLst/>
            <a:cxnLst/>
            <a:rect l="l" t="t" r="r" b="b"/>
            <a:pathLst>
              <a:path w="939800" h="304800">
                <a:moveTo>
                  <a:pt x="50801" y="0"/>
                </a:moveTo>
                <a:lnTo>
                  <a:pt x="888999" y="0"/>
                </a:lnTo>
                <a:cubicBezTo>
                  <a:pt x="917056" y="0"/>
                  <a:pt x="939800" y="22744"/>
                  <a:pt x="939800" y="50801"/>
                </a:cubicBezTo>
                <a:lnTo>
                  <a:pt x="939800" y="253999"/>
                </a:lnTo>
                <a:cubicBezTo>
                  <a:pt x="939800" y="282056"/>
                  <a:pt x="917056" y="304800"/>
                  <a:pt x="888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11016343" y="6328228"/>
            <a:ext cx="1016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Upload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2058952" y="6328228"/>
            <a:ext cx="1028700" cy="304800"/>
          </a:xfrm>
          <a:custGeom>
            <a:avLst/>
            <a:gdLst/>
            <a:ahLst/>
            <a:cxnLst/>
            <a:rect l="l" t="t" r="r" b="b"/>
            <a:pathLst>
              <a:path w="1028700" h="304800">
                <a:moveTo>
                  <a:pt x="50801" y="0"/>
                </a:moveTo>
                <a:lnTo>
                  <a:pt x="977899" y="0"/>
                </a:lnTo>
                <a:cubicBezTo>
                  <a:pt x="1005956" y="0"/>
                  <a:pt x="1028700" y="22744"/>
                  <a:pt x="1028700" y="50801"/>
                </a:cubicBezTo>
                <a:lnTo>
                  <a:pt x="1028700" y="253999"/>
                </a:lnTo>
                <a:cubicBezTo>
                  <a:pt x="1028700" y="282056"/>
                  <a:pt x="1005956" y="304800"/>
                  <a:pt x="9778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12058952" y="6328228"/>
            <a:ext cx="11049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13188421" y="6328228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50801" y="0"/>
                </a:moveTo>
                <a:lnTo>
                  <a:pt x="787399" y="0"/>
                </a:lnTo>
                <a:cubicBezTo>
                  <a:pt x="815456" y="0"/>
                  <a:pt x="838200" y="22744"/>
                  <a:pt x="838200" y="50801"/>
                </a:cubicBezTo>
                <a:lnTo>
                  <a:pt x="838200" y="253999"/>
                </a:lnTo>
                <a:cubicBezTo>
                  <a:pt x="838200" y="282056"/>
                  <a:pt x="815456" y="304800"/>
                  <a:pt x="787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13188421" y="6328228"/>
            <a:ext cx="914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0808305" y="7003146"/>
            <a:ext cx="4937276" cy="1127276"/>
          </a:xfrm>
          <a:custGeom>
            <a:avLst/>
            <a:gdLst/>
            <a:ahLst/>
            <a:cxnLst/>
            <a:rect l="l" t="t" r="r" b="b"/>
            <a:pathLst>
              <a:path w="4937276" h="1127276">
                <a:moveTo>
                  <a:pt x="152396" y="0"/>
                </a:moveTo>
                <a:lnTo>
                  <a:pt x="4784880" y="0"/>
                </a:lnTo>
                <a:cubicBezTo>
                  <a:pt x="4869046" y="0"/>
                  <a:pt x="4937276" y="68230"/>
                  <a:pt x="4937276" y="152396"/>
                </a:cubicBezTo>
                <a:lnTo>
                  <a:pt x="4937276" y="974880"/>
                </a:lnTo>
                <a:cubicBezTo>
                  <a:pt x="4937276" y="1059046"/>
                  <a:pt x="4869046" y="1127276"/>
                  <a:pt x="4784880" y="1127276"/>
                </a:cubicBezTo>
                <a:lnTo>
                  <a:pt x="152396" y="1127276"/>
                </a:lnTo>
                <a:cubicBezTo>
                  <a:pt x="68230" y="1127276"/>
                  <a:pt x="0" y="1059046"/>
                  <a:pt x="0" y="974880"/>
                </a:cubicBezTo>
                <a:lnTo>
                  <a:pt x="0" y="152396"/>
                </a:lnTo>
                <a:cubicBezTo>
                  <a:pt x="0" y="68287"/>
                  <a:pt x="68287" y="0"/>
                  <a:pt x="15239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1016343" y="7211182"/>
            <a:ext cx="463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Pooling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11016343" y="7668382"/>
            <a:ext cx="461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pgBouncer with 100-200 connections per service pool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Enhanced Architecture Diagram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838" y="1579638"/>
            <a:ext cx="15224276" cy="7045476"/>
          </a:xfrm>
          <a:custGeom>
            <a:avLst/>
            <a:gdLst/>
            <a:ahLst/>
            <a:cxnLst/>
            <a:rect l="l" t="t" r="r" b="b"/>
            <a:pathLst>
              <a:path w="15224276" h="7045476">
                <a:moveTo>
                  <a:pt x="152394" y="0"/>
                </a:moveTo>
                <a:lnTo>
                  <a:pt x="15071883" y="0"/>
                </a:lnTo>
                <a:cubicBezTo>
                  <a:pt x="15156047" y="0"/>
                  <a:pt x="15224276" y="68229"/>
                  <a:pt x="15224276" y="152394"/>
                </a:cubicBezTo>
                <a:lnTo>
                  <a:pt x="15224276" y="6893083"/>
                </a:lnTo>
                <a:cubicBezTo>
                  <a:pt x="15224276" y="6977247"/>
                  <a:pt x="15156047" y="7045476"/>
                  <a:pt x="15071883" y="7045476"/>
                </a:cubicBezTo>
                <a:lnTo>
                  <a:pt x="152394" y="7045476"/>
                </a:lnTo>
                <a:cubicBezTo>
                  <a:pt x="68229" y="7045476"/>
                  <a:pt x="0" y="6977247"/>
                  <a:pt x="0" y="6893083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99969" y="1792518"/>
            <a:ext cx="1863876" cy="670076"/>
          </a:xfrm>
          <a:custGeom>
            <a:avLst/>
            <a:gdLst/>
            <a:ahLst/>
            <a:cxnLst/>
            <a:rect l="l" t="t" r="r" b="b"/>
            <a:pathLst>
              <a:path w="1863876" h="670076">
                <a:moveTo>
                  <a:pt x="101597" y="0"/>
                </a:moveTo>
                <a:lnTo>
                  <a:pt x="1762279" y="0"/>
                </a:lnTo>
                <a:cubicBezTo>
                  <a:pt x="1818390" y="0"/>
                  <a:pt x="1863876" y="45487"/>
                  <a:pt x="1863876" y="101597"/>
                </a:cubicBezTo>
                <a:lnTo>
                  <a:pt x="1863876" y="568479"/>
                </a:lnTo>
                <a:cubicBezTo>
                  <a:pt x="1863876" y="624590"/>
                  <a:pt x="1818390" y="670076"/>
                  <a:pt x="1762279" y="670076"/>
                </a:cubicBezTo>
                <a:lnTo>
                  <a:pt x="101597" y="670076"/>
                </a:lnTo>
                <a:cubicBezTo>
                  <a:pt x="45524" y="670076"/>
                  <a:pt x="0" y="624552"/>
                  <a:pt x="0" y="568479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9676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3557" y="1898954"/>
            <a:ext cx="153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Upstream 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69907" y="2152954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/ Kafka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75209" y="1792518"/>
            <a:ext cx="1381276" cy="670076"/>
          </a:xfrm>
          <a:custGeom>
            <a:avLst/>
            <a:gdLst/>
            <a:ahLst/>
            <a:cxnLst/>
            <a:rect l="l" t="t" r="r" b="b"/>
            <a:pathLst>
              <a:path w="1381276" h="670076">
                <a:moveTo>
                  <a:pt x="101597" y="0"/>
                </a:moveTo>
                <a:lnTo>
                  <a:pt x="1279679" y="0"/>
                </a:lnTo>
                <a:cubicBezTo>
                  <a:pt x="1335752" y="0"/>
                  <a:pt x="1381276" y="45524"/>
                  <a:pt x="1381276" y="101597"/>
                </a:cubicBezTo>
                <a:lnTo>
                  <a:pt x="1381276" y="568479"/>
                </a:lnTo>
                <a:cubicBezTo>
                  <a:pt x="1381276" y="624590"/>
                  <a:pt x="1335790" y="670076"/>
                  <a:pt x="1279679" y="670076"/>
                </a:cubicBezTo>
                <a:lnTo>
                  <a:pt x="101597" y="670076"/>
                </a:lnTo>
                <a:cubicBezTo>
                  <a:pt x="45524" y="670076"/>
                  <a:pt x="0" y="624552"/>
                  <a:pt x="0" y="568479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9676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8798" y="1898954"/>
            <a:ext cx="105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LDAP Server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45148" y="2152954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35233" y="2619828"/>
            <a:ext cx="2781300" cy="863600"/>
          </a:xfrm>
          <a:custGeom>
            <a:avLst/>
            <a:gdLst/>
            <a:ahLst/>
            <a:cxnLst/>
            <a:rect l="l" t="t" r="r" b="b"/>
            <a:pathLst>
              <a:path w="2781300" h="863600">
                <a:moveTo>
                  <a:pt x="152399" y="0"/>
                </a:moveTo>
                <a:lnTo>
                  <a:pt x="2628901" y="0"/>
                </a:lnTo>
                <a:cubicBezTo>
                  <a:pt x="2713068" y="0"/>
                  <a:pt x="2781300" y="68232"/>
                  <a:pt x="2781300" y="152399"/>
                </a:cubicBezTo>
                <a:lnTo>
                  <a:pt x="2781300" y="711201"/>
                </a:lnTo>
                <a:cubicBezTo>
                  <a:pt x="2781300" y="795368"/>
                  <a:pt x="2713068" y="863600"/>
                  <a:pt x="2628901" y="863600"/>
                </a:cubicBezTo>
                <a:lnTo>
                  <a:pt x="152399" y="863600"/>
                </a:lnTo>
                <a:cubicBezTo>
                  <a:pt x="68232" y="863600"/>
                  <a:pt x="0" y="795368"/>
                  <a:pt x="0" y="71120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4A6D8C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82884" y="2772228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01934" y="3127828"/>
            <a:ext cx="224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1A1D21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Routing, Load Balancing, Security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2971" y="3647923"/>
            <a:ext cx="3567490" cy="1090990"/>
          </a:xfrm>
          <a:custGeom>
            <a:avLst/>
            <a:gdLst/>
            <a:ahLst/>
            <a:cxnLst/>
            <a:rect l="l" t="t" r="r" b="b"/>
            <a:pathLst>
              <a:path w="3567490" h="1090990">
                <a:moveTo>
                  <a:pt x="152400" y="0"/>
                </a:moveTo>
                <a:lnTo>
                  <a:pt x="3415090" y="0"/>
                </a:lnTo>
                <a:cubicBezTo>
                  <a:pt x="3499258" y="0"/>
                  <a:pt x="3567490" y="68232"/>
                  <a:pt x="3567490" y="152400"/>
                </a:cubicBezTo>
                <a:lnTo>
                  <a:pt x="3567490" y="938590"/>
                </a:lnTo>
                <a:cubicBezTo>
                  <a:pt x="3567490" y="1022758"/>
                  <a:pt x="3499258" y="1090990"/>
                  <a:pt x="3415090" y="1090990"/>
                </a:cubicBezTo>
                <a:lnTo>
                  <a:pt x="152400" y="1090990"/>
                </a:lnTo>
                <a:cubicBezTo>
                  <a:pt x="68232" y="1090990"/>
                  <a:pt x="0" y="1022758"/>
                  <a:pt x="0" y="93859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24190">
            <a:solidFill>
              <a:srgbClr val="4A6D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0257" y="3812418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150813"/>
                </a:lnTo>
                <a:lnTo>
                  <a:pt x="90339" y="150813"/>
                </a:lnTo>
                <a:lnTo>
                  <a:pt x="74960" y="135434"/>
                </a:lnTo>
                <a:cubicBezTo>
                  <a:pt x="70296" y="130770"/>
                  <a:pt x="70296" y="123230"/>
                  <a:pt x="74960" y="118616"/>
                </a:cubicBezTo>
                <a:cubicBezTo>
                  <a:pt x="79623" y="114002"/>
                  <a:pt x="87164" y="113953"/>
                  <a:pt x="91777" y="118616"/>
                </a:cubicBezTo>
                <a:lnTo>
                  <a:pt x="127496" y="154335"/>
                </a:lnTo>
                <a:cubicBezTo>
                  <a:pt x="132159" y="158998"/>
                  <a:pt x="132159" y="166539"/>
                  <a:pt x="127496" y="171152"/>
                </a:cubicBezTo>
                <a:lnTo>
                  <a:pt x="91777" y="206871"/>
                </a:lnTo>
                <a:cubicBezTo>
                  <a:pt x="87114" y="211534"/>
                  <a:pt x="79573" y="211534"/>
                  <a:pt x="74960" y="206871"/>
                </a:cubicBezTo>
                <a:cubicBezTo>
                  <a:pt x="70346" y="202208"/>
                  <a:pt x="70296" y="194667"/>
                  <a:pt x="74960" y="190054"/>
                </a:cubicBezTo>
                <a:lnTo>
                  <a:pt x="90339" y="174675"/>
                </a:lnTo>
                <a:lnTo>
                  <a:pt x="0" y="174675"/>
                </a:lnTo>
                <a:lnTo>
                  <a:pt x="0" y="222300"/>
                </a:lnTo>
                <a:cubicBezTo>
                  <a:pt x="0" y="239812"/>
                  <a:pt x="14238" y="254050"/>
                  <a:pt x="31750" y="254050"/>
                </a:cubicBezTo>
                <a:lnTo>
                  <a:pt x="158750" y="254050"/>
                </a:lnTo>
                <a:cubicBezTo>
                  <a:pt x="176262" y="254050"/>
                  <a:pt x="190500" y="239812"/>
                  <a:pt x="190500" y="222300"/>
                </a:cubicBezTo>
                <a:lnTo>
                  <a:pt x="190500" y="84634"/>
                </a:lnTo>
                <a:cubicBezTo>
                  <a:pt x="190500" y="76200"/>
                  <a:pt x="187176" y="68114"/>
                  <a:pt x="181223" y="62161"/>
                </a:cubicBezTo>
                <a:lnTo>
                  <a:pt x="128339" y="9277"/>
                </a:lnTo>
                <a:cubicBezTo>
                  <a:pt x="122386" y="3324"/>
                  <a:pt x="114350" y="0"/>
                  <a:pt x="105916" y="0"/>
                </a:cubicBezTo>
                <a:lnTo>
                  <a:pt x="31750" y="0"/>
                </a:lnTo>
                <a:close/>
                <a:moveTo>
                  <a:pt x="161479" y="87313"/>
                </a:moveTo>
                <a:lnTo>
                  <a:pt x="115094" y="87313"/>
                </a:lnTo>
                <a:cubicBezTo>
                  <a:pt x="108496" y="87313"/>
                  <a:pt x="103188" y="82004"/>
                  <a:pt x="103188" y="75406"/>
                </a:cubicBezTo>
                <a:lnTo>
                  <a:pt x="103188" y="29021"/>
                </a:lnTo>
                <a:lnTo>
                  <a:pt x="161479" y="8731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6" name="Text 14"/>
          <p:cNvSpPr/>
          <p:nvPr/>
        </p:nvSpPr>
        <p:spPr>
          <a:xfrm>
            <a:off x="853017" y="4117218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367" y="4371218"/>
            <a:ext cx="331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74633" y="3647923"/>
            <a:ext cx="3567490" cy="1090990"/>
          </a:xfrm>
          <a:custGeom>
            <a:avLst/>
            <a:gdLst/>
            <a:ahLst/>
            <a:cxnLst/>
            <a:rect l="l" t="t" r="r" b="b"/>
            <a:pathLst>
              <a:path w="3567490" h="1090990">
                <a:moveTo>
                  <a:pt x="152400" y="0"/>
                </a:moveTo>
                <a:lnTo>
                  <a:pt x="3415090" y="0"/>
                </a:lnTo>
                <a:cubicBezTo>
                  <a:pt x="3499258" y="0"/>
                  <a:pt x="3567490" y="68232"/>
                  <a:pt x="3567490" y="152400"/>
                </a:cubicBezTo>
                <a:lnTo>
                  <a:pt x="3567490" y="938590"/>
                </a:lnTo>
                <a:cubicBezTo>
                  <a:pt x="3567490" y="1022758"/>
                  <a:pt x="3499258" y="1090990"/>
                  <a:pt x="3415090" y="1090990"/>
                </a:cubicBezTo>
                <a:lnTo>
                  <a:pt x="152400" y="1090990"/>
                </a:lnTo>
                <a:cubicBezTo>
                  <a:pt x="68232" y="1090990"/>
                  <a:pt x="0" y="1022758"/>
                  <a:pt x="0" y="93859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4190">
            <a:solidFill>
              <a:srgbClr val="5E8B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30169" y="381241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4594679" y="4117218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01029" y="4371218"/>
            <a:ext cx="331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6295" y="3647923"/>
            <a:ext cx="3567490" cy="1090990"/>
          </a:xfrm>
          <a:custGeom>
            <a:avLst/>
            <a:gdLst/>
            <a:ahLst/>
            <a:cxnLst/>
            <a:rect l="l" t="t" r="r" b="b"/>
            <a:pathLst>
              <a:path w="3567490" h="1090990">
                <a:moveTo>
                  <a:pt x="152400" y="0"/>
                </a:moveTo>
                <a:lnTo>
                  <a:pt x="3415090" y="0"/>
                </a:lnTo>
                <a:cubicBezTo>
                  <a:pt x="3499258" y="0"/>
                  <a:pt x="3567490" y="68232"/>
                  <a:pt x="3567490" y="152400"/>
                </a:cubicBezTo>
                <a:lnTo>
                  <a:pt x="3567490" y="938590"/>
                </a:lnTo>
                <a:cubicBezTo>
                  <a:pt x="3567490" y="1022758"/>
                  <a:pt x="3499258" y="1090990"/>
                  <a:pt x="3415090" y="1090990"/>
                </a:cubicBezTo>
                <a:lnTo>
                  <a:pt x="152400" y="1090990"/>
                </a:lnTo>
                <a:cubicBezTo>
                  <a:pt x="68232" y="1090990"/>
                  <a:pt x="0" y="1022758"/>
                  <a:pt x="0" y="93859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24190">
            <a:solidFill>
              <a:srgbClr val="4A6D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1831" y="381241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6377" y="18008"/>
                </a:moveTo>
                <a:cubicBezTo>
                  <a:pt x="71785" y="21779"/>
                  <a:pt x="73075" y="29220"/>
                  <a:pt x="69304" y="34578"/>
                </a:cubicBezTo>
                <a:lnTo>
                  <a:pt x="41523" y="74265"/>
                </a:lnTo>
                <a:cubicBezTo>
                  <a:pt x="39489" y="77143"/>
                  <a:pt x="36314" y="78978"/>
                  <a:pt x="32792" y="79276"/>
                </a:cubicBezTo>
                <a:cubicBezTo>
                  <a:pt x="29270" y="79573"/>
                  <a:pt x="25797" y="78383"/>
                  <a:pt x="23316" y="75902"/>
                </a:cubicBezTo>
                <a:lnTo>
                  <a:pt x="3473" y="56059"/>
                </a:lnTo>
                <a:cubicBezTo>
                  <a:pt x="-1141" y="51395"/>
                  <a:pt x="-1141" y="43855"/>
                  <a:pt x="3473" y="39191"/>
                </a:cubicBezTo>
                <a:cubicBezTo>
                  <a:pt x="8086" y="34528"/>
                  <a:pt x="15677" y="34578"/>
                  <a:pt x="20340" y="39191"/>
                </a:cubicBezTo>
                <a:lnTo>
                  <a:pt x="30163" y="49014"/>
                </a:lnTo>
                <a:lnTo>
                  <a:pt x="49808" y="20935"/>
                </a:lnTo>
                <a:cubicBezTo>
                  <a:pt x="53578" y="15528"/>
                  <a:pt x="61020" y="14238"/>
                  <a:pt x="66377" y="18008"/>
                </a:cubicBezTo>
                <a:close/>
                <a:moveTo>
                  <a:pt x="66377" y="97383"/>
                </a:moveTo>
                <a:cubicBezTo>
                  <a:pt x="71785" y="101154"/>
                  <a:pt x="73075" y="108595"/>
                  <a:pt x="69304" y="113953"/>
                </a:cubicBezTo>
                <a:lnTo>
                  <a:pt x="41523" y="153640"/>
                </a:lnTo>
                <a:cubicBezTo>
                  <a:pt x="39489" y="156518"/>
                  <a:pt x="36314" y="158353"/>
                  <a:pt x="32792" y="158651"/>
                </a:cubicBezTo>
                <a:cubicBezTo>
                  <a:pt x="29270" y="158948"/>
                  <a:pt x="25797" y="157758"/>
                  <a:pt x="23316" y="155277"/>
                </a:cubicBezTo>
                <a:lnTo>
                  <a:pt x="3473" y="135434"/>
                </a:lnTo>
                <a:cubicBezTo>
                  <a:pt x="-1191" y="130770"/>
                  <a:pt x="-1191" y="123230"/>
                  <a:pt x="3473" y="118616"/>
                </a:cubicBezTo>
                <a:cubicBezTo>
                  <a:pt x="8136" y="114002"/>
                  <a:pt x="15677" y="113953"/>
                  <a:pt x="20290" y="118616"/>
                </a:cubicBezTo>
                <a:lnTo>
                  <a:pt x="30113" y="128439"/>
                </a:lnTo>
                <a:lnTo>
                  <a:pt x="49758" y="100360"/>
                </a:lnTo>
                <a:cubicBezTo>
                  <a:pt x="53529" y="94952"/>
                  <a:pt x="60970" y="93662"/>
                  <a:pt x="66328" y="97433"/>
                </a:cubicBezTo>
                <a:close/>
                <a:moveTo>
                  <a:pt x="111125" y="47625"/>
                </a:moveTo>
                <a:cubicBezTo>
                  <a:pt x="111125" y="38844"/>
                  <a:pt x="118219" y="31750"/>
                  <a:pt x="127000" y="31750"/>
                </a:cubicBezTo>
                <a:lnTo>
                  <a:pt x="238125" y="31750"/>
                </a:lnTo>
                <a:cubicBezTo>
                  <a:pt x="246906" y="31750"/>
                  <a:pt x="254000" y="38844"/>
                  <a:pt x="254000" y="47625"/>
                </a:cubicBezTo>
                <a:cubicBezTo>
                  <a:pt x="254000" y="56406"/>
                  <a:pt x="246906" y="63500"/>
                  <a:pt x="238125" y="63500"/>
                </a:cubicBezTo>
                <a:lnTo>
                  <a:pt x="127000" y="63500"/>
                </a:lnTo>
                <a:cubicBezTo>
                  <a:pt x="118219" y="63500"/>
                  <a:pt x="111125" y="56406"/>
                  <a:pt x="111125" y="47625"/>
                </a:cubicBezTo>
                <a:close/>
                <a:moveTo>
                  <a:pt x="111125" y="127000"/>
                </a:moveTo>
                <a:cubicBezTo>
                  <a:pt x="111125" y="118219"/>
                  <a:pt x="118219" y="111125"/>
                  <a:pt x="127000" y="111125"/>
                </a:cubicBez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127000" y="142875"/>
                </a:lnTo>
                <a:cubicBezTo>
                  <a:pt x="118219" y="142875"/>
                  <a:pt x="111125" y="135781"/>
                  <a:pt x="111125" y="127000"/>
                </a:cubicBezTo>
                <a:close/>
                <a:moveTo>
                  <a:pt x="79375" y="206375"/>
                </a:moveTo>
                <a:cubicBezTo>
                  <a:pt x="79375" y="197594"/>
                  <a:pt x="86469" y="190500"/>
                  <a:pt x="95250" y="190500"/>
                </a:cubicBez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95250" y="222250"/>
                </a:lnTo>
                <a:cubicBezTo>
                  <a:pt x="86469" y="222250"/>
                  <a:pt x="79375" y="215156"/>
                  <a:pt x="79375" y="206375"/>
                </a:cubicBezTo>
                <a:close/>
                <a:moveTo>
                  <a:pt x="31750" y="186531"/>
                </a:moveTo>
                <a:cubicBezTo>
                  <a:pt x="42702" y="186531"/>
                  <a:pt x="51594" y="195423"/>
                  <a:pt x="51594" y="206375"/>
                </a:cubicBezTo>
                <a:cubicBezTo>
                  <a:pt x="51594" y="217327"/>
                  <a:pt x="42702" y="226219"/>
                  <a:pt x="31750" y="226219"/>
                </a:cubicBezTo>
                <a:cubicBezTo>
                  <a:pt x="20798" y="226219"/>
                  <a:pt x="11906" y="217327"/>
                  <a:pt x="11906" y="206375"/>
                </a:cubicBezTo>
                <a:cubicBezTo>
                  <a:pt x="11906" y="195423"/>
                  <a:pt x="20798" y="186531"/>
                  <a:pt x="31750" y="186531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4" name="Text 22"/>
          <p:cNvSpPr/>
          <p:nvPr/>
        </p:nvSpPr>
        <p:spPr>
          <a:xfrm>
            <a:off x="8336341" y="4117218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42691" y="4371218"/>
            <a:ext cx="331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957958" y="3647923"/>
            <a:ext cx="3567490" cy="1090990"/>
          </a:xfrm>
          <a:custGeom>
            <a:avLst/>
            <a:gdLst/>
            <a:ahLst/>
            <a:cxnLst/>
            <a:rect l="l" t="t" r="r" b="b"/>
            <a:pathLst>
              <a:path w="3567490" h="1090990">
                <a:moveTo>
                  <a:pt x="152400" y="0"/>
                </a:moveTo>
                <a:lnTo>
                  <a:pt x="3415090" y="0"/>
                </a:lnTo>
                <a:cubicBezTo>
                  <a:pt x="3499258" y="0"/>
                  <a:pt x="3567490" y="68232"/>
                  <a:pt x="3567490" y="152400"/>
                </a:cubicBezTo>
                <a:lnTo>
                  <a:pt x="3567490" y="938590"/>
                </a:lnTo>
                <a:cubicBezTo>
                  <a:pt x="3567490" y="1022758"/>
                  <a:pt x="3499258" y="1090990"/>
                  <a:pt x="3415090" y="1090990"/>
                </a:cubicBezTo>
                <a:lnTo>
                  <a:pt x="152400" y="1090990"/>
                </a:lnTo>
                <a:cubicBezTo>
                  <a:pt x="68232" y="1090990"/>
                  <a:pt x="0" y="1022758"/>
                  <a:pt x="0" y="93859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4190">
            <a:solidFill>
              <a:srgbClr val="5E8B7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629368" y="3812418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79375"/>
                </a:moveTo>
                <a:lnTo>
                  <a:pt x="127000" y="127000"/>
                </a:lnTo>
                <a:lnTo>
                  <a:pt x="190500" y="127000"/>
                </a:lnTo>
                <a:lnTo>
                  <a:pt x="190500" y="79375"/>
                </a:lnTo>
                <a:lnTo>
                  <a:pt x="127000" y="79375"/>
                </a:lnTo>
                <a:close/>
                <a:moveTo>
                  <a:pt x="95250" y="79375"/>
                </a:moveTo>
                <a:lnTo>
                  <a:pt x="31750" y="79375"/>
                </a:lnTo>
                <a:lnTo>
                  <a:pt x="31750" y="127000"/>
                </a:lnTo>
                <a:lnTo>
                  <a:pt x="95250" y="127000"/>
                </a:lnTo>
                <a:lnTo>
                  <a:pt x="95250" y="79375"/>
                </a:lnTo>
                <a:close/>
                <a:moveTo>
                  <a:pt x="0" y="158750"/>
                </a:move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8750"/>
                </a:lnTo>
                <a:close/>
                <a:moveTo>
                  <a:pt x="190500" y="158750"/>
                </a:moveTo>
                <a:lnTo>
                  <a:pt x="127000" y="158750"/>
                </a:lnTo>
                <a:lnTo>
                  <a:pt x="127000" y="206375"/>
                </a:lnTo>
                <a:lnTo>
                  <a:pt x="190500" y="206375"/>
                </a:lnTo>
                <a:lnTo>
                  <a:pt x="190500" y="158750"/>
                </a:lnTo>
                <a:close/>
                <a:moveTo>
                  <a:pt x="95250" y="206375"/>
                </a:moveTo>
                <a:lnTo>
                  <a:pt x="95250" y="158750"/>
                </a:lnTo>
                <a:lnTo>
                  <a:pt x="31750" y="158750"/>
                </a:lnTo>
                <a:lnTo>
                  <a:pt x="31750" y="206375"/>
                </a:lnTo>
                <a:lnTo>
                  <a:pt x="95250" y="2063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12078002" y="4117218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View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084352" y="4371218"/>
            <a:ext cx="331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2971" y="4915504"/>
            <a:ext cx="3567490" cy="1090990"/>
          </a:xfrm>
          <a:custGeom>
            <a:avLst/>
            <a:gdLst/>
            <a:ahLst/>
            <a:cxnLst/>
            <a:rect l="l" t="t" r="r" b="b"/>
            <a:pathLst>
              <a:path w="3567490" h="1090990">
                <a:moveTo>
                  <a:pt x="152400" y="0"/>
                </a:moveTo>
                <a:lnTo>
                  <a:pt x="3415090" y="0"/>
                </a:lnTo>
                <a:cubicBezTo>
                  <a:pt x="3499258" y="0"/>
                  <a:pt x="3567490" y="68232"/>
                  <a:pt x="3567490" y="152400"/>
                </a:cubicBezTo>
                <a:lnTo>
                  <a:pt x="3567490" y="938590"/>
                </a:lnTo>
                <a:cubicBezTo>
                  <a:pt x="3567490" y="1022758"/>
                  <a:pt x="3499258" y="1090990"/>
                  <a:pt x="3415090" y="1090990"/>
                </a:cubicBezTo>
                <a:lnTo>
                  <a:pt x="152400" y="1090990"/>
                </a:lnTo>
                <a:cubicBezTo>
                  <a:pt x="68232" y="1090990"/>
                  <a:pt x="0" y="1022758"/>
                  <a:pt x="0" y="93859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24190">
            <a:solidFill>
              <a:srgbClr val="4A6D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04382" y="5080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8348" y="1240"/>
                </a:moveTo>
                <a:cubicBezTo>
                  <a:pt x="42366" y="-794"/>
                  <a:pt x="47228" y="-347"/>
                  <a:pt x="50800" y="2381"/>
                </a:cubicBezTo>
                <a:lnTo>
                  <a:pt x="209550" y="121394"/>
                </a:lnTo>
                <a:cubicBezTo>
                  <a:pt x="213668" y="124470"/>
                  <a:pt x="215305" y="129828"/>
                  <a:pt x="213717" y="134689"/>
                </a:cubicBezTo>
                <a:cubicBezTo>
                  <a:pt x="212130" y="139551"/>
                  <a:pt x="207566" y="142825"/>
                  <a:pt x="202406" y="142825"/>
                </a:cubicBezTo>
                <a:lnTo>
                  <a:pt x="126851" y="142825"/>
                </a:lnTo>
                <a:lnTo>
                  <a:pt x="170954" y="230981"/>
                </a:lnTo>
                <a:cubicBezTo>
                  <a:pt x="174873" y="238820"/>
                  <a:pt x="171698" y="248345"/>
                  <a:pt x="163860" y="252264"/>
                </a:cubicBezTo>
                <a:cubicBezTo>
                  <a:pt x="156021" y="256183"/>
                  <a:pt x="146496" y="253008"/>
                  <a:pt x="142577" y="245170"/>
                </a:cubicBezTo>
                <a:lnTo>
                  <a:pt x="98475" y="157014"/>
                </a:lnTo>
                <a:lnTo>
                  <a:pt x="53181" y="217438"/>
                </a:lnTo>
                <a:cubicBezTo>
                  <a:pt x="50105" y="221555"/>
                  <a:pt x="44748" y="223193"/>
                  <a:pt x="39886" y="221605"/>
                </a:cubicBezTo>
                <a:cubicBezTo>
                  <a:pt x="35024" y="220018"/>
                  <a:pt x="31750" y="215454"/>
                  <a:pt x="31750" y="210344"/>
                </a:cubicBezTo>
                <a:lnTo>
                  <a:pt x="31750" y="11906"/>
                </a:lnTo>
                <a:cubicBezTo>
                  <a:pt x="31750" y="7392"/>
                  <a:pt x="34280" y="3274"/>
                  <a:pt x="38348" y="124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2" name="Text 30"/>
          <p:cNvSpPr/>
          <p:nvPr/>
        </p:nvSpPr>
        <p:spPr>
          <a:xfrm>
            <a:off x="853017" y="5384800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9367" y="5638800"/>
            <a:ext cx="331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74633" y="4915504"/>
            <a:ext cx="3567490" cy="1090990"/>
          </a:xfrm>
          <a:custGeom>
            <a:avLst/>
            <a:gdLst/>
            <a:ahLst/>
            <a:cxnLst/>
            <a:rect l="l" t="t" r="r" b="b"/>
            <a:pathLst>
              <a:path w="3567490" h="1090990">
                <a:moveTo>
                  <a:pt x="152400" y="0"/>
                </a:moveTo>
                <a:lnTo>
                  <a:pt x="3415090" y="0"/>
                </a:lnTo>
                <a:cubicBezTo>
                  <a:pt x="3499258" y="0"/>
                  <a:pt x="3567490" y="68232"/>
                  <a:pt x="3567490" y="152400"/>
                </a:cubicBezTo>
                <a:lnTo>
                  <a:pt x="3567490" y="938590"/>
                </a:lnTo>
                <a:cubicBezTo>
                  <a:pt x="3567490" y="1022758"/>
                  <a:pt x="3499258" y="1090990"/>
                  <a:pt x="3415090" y="1090990"/>
                </a:cubicBezTo>
                <a:lnTo>
                  <a:pt x="152400" y="1090990"/>
                </a:lnTo>
                <a:cubicBezTo>
                  <a:pt x="68232" y="1090990"/>
                  <a:pt x="0" y="1022758"/>
                  <a:pt x="0" y="93859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4190">
            <a:solidFill>
              <a:srgbClr val="5E8B7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30169" y="508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4594679" y="5384800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01029" y="5638800"/>
            <a:ext cx="331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16295" y="4915504"/>
            <a:ext cx="3567490" cy="1090990"/>
          </a:xfrm>
          <a:custGeom>
            <a:avLst/>
            <a:gdLst/>
            <a:ahLst/>
            <a:cxnLst/>
            <a:rect l="l" t="t" r="r" b="b"/>
            <a:pathLst>
              <a:path w="3567490" h="1090990">
                <a:moveTo>
                  <a:pt x="152400" y="0"/>
                </a:moveTo>
                <a:lnTo>
                  <a:pt x="3415090" y="0"/>
                </a:lnTo>
                <a:cubicBezTo>
                  <a:pt x="3499258" y="0"/>
                  <a:pt x="3567490" y="68232"/>
                  <a:pt x="3567490" y="152400"/>
                </a:cubicBezTo>
                <a:lnTo>
                  <a:pt x="3567490" y="938590"/>
                </a:lnTo>
                <a:cubicBezTo>
                  <a:pt x="3567490" y="1022758"/>
                  <a:pt x="3499258" y="1090990"/>
                  <a:pt x="3415090" y="1090990"/>
                </a:cubicBezTo>
                <a:lnTo>
                  <a:pt x="152400" y="1090990"/>
                </a:lnTo>
                <a:cubicBezTo>
                  <a:pt x="68232" y="1090990"/>
                  <a:pt x="0" y="1022758"/>
                  <a:pt x="0" y="93859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24190">
            <a:solidFill>
              <a:srgbClr val="4A6D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71831" y="508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74625"/>
                </a:lnTo>
                <a:cubicBezTo>
                  <a:pt x="0" y="192137"/>
                  <a:pt x="14238" y="206375"/>
                  <a:pt x="31750" y="206375"/>
                </a:cubicBezTo>
                <a:lnTo>
                  <a:pt x="103188" y="206375"/>
                </a:lnTo>
                <a:lnTo>
                  <a:pt x="95250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94469" y="254000"/>
                </a:lnTo>
                <a:cubicBezTo>
                  <a:pt x="201067" y="254000"/>
                  <a:pt x="206375" y="248692"/>
                  <a:pt x="206375" y="242094"/>
                </a:cubicBezTo>
                <a:cubicBezTo>
                  <a:pt x="206375" y="235496"/>
                  <a:pt x="201067" y="230188"/>
                  <a:pt x="194469" y="230188"/>
                </a:cubicBezTo>
                <a:lnTo>
                  <a:pt x="158750" y="230188"/>
                </a:lnTo>
                <a:lnTo>
                  <a:pt x="150813" y="206375"/>
                </a:lnTo>
                <a:lnTo>
                  <a:pt x="222250" y="206375"/>
                </a:lnTo>
                <a:cubicBezTo>
                  <a:pt x="239762" y="206375"/>
                  <a:pt x="254000" y="192137"/>
                  <a:pt x="254000" y="174625"/>
                </a:cubicBezTo>
                <a:lnTo>
                  <a:pt x="254000" y="47625"/>
                </a:lnTo>
                <a:cubicBezTo>
                  <a:pt x="254000" y="30113"/>
                  <a:pt x="239762" y="15875"/>
                  <a:pt x="222250" y="15875"/>
                </a:cubicBezTo>
                <a:lnTo>
                  <a:pt x="31750" y="15875"/>
                </a:lnTo>
                <a:close/>
                <a:moveTo>
                  <a:pt x="47625" y="47625"/>
                </a:move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42875"/>
                </a:lnTo>
                <a:cubicBezTo>
                  <a:pt x="222250" y="151656"/>
                  <a:pt x="215156" y="158750"/>
                  <a:pt x="206375" y="158750"/>
                </a:cubicBezTo>
                <a:lnTo>
                  <a:pt x="47625" y="158750"/>
                </a:lnTo>
                <a:cubicBezTo>
                  <a:pt x="38844" y="158750"/>
                  <a:pt x="31750" y="151656"/>
                  <a:pt x="31750" y="142875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0" name="Text 38"/>
          <p:cNvSpPr/>
          <p:nvPr/>
        </p:nvSpPr>
        <p:spPr>
          <a:xfrm>
            <a:off x="8336341" y="5384800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42691" y="5638800"/>
            <a:ext cx="331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957958" y="4915504"/>
            <a:ext cx="3567490" cy="1090990"/>
          </a:xfrm>
          <a:custGeom>
            <a:avLst/>
            <a:gdLst/>
            <a:ahLst/>
            <a:cxnLst/>
            <a:rect l="l" t="t" r="r" b="b"/>
            <a:pathLst>
              <a:path w="3567490" h="1090990">
                <a:moveTo>
                  <a:pt x="152400" y="0"/>
                </a:moveTo>
                <a:lnTo>
                  <a:pt x="3415090" y="0"/>
                </a:lnTo>
                <a:cubicBezTo>
                  <a:pt x="3499258" y="0"/>
                  <a:pt x="3567490" y="68232"/>
                  <a:pt x="3567490" y="152400"/>
                </a:cubicBezTo>
                <a:lnTo>
                  <a:pt x="3567490" y="938590"/>
                </a:lnTo>
                <a:cubicBezTo>
                  <a:pt x="3567490" y="1022758"/>
                  <a:pt x="3499258" y="1090990"/>
                  <a:pt x="3415090" y="1090990"/>
                </a:cubicBezTo>
                <a:lnTo>
                  <a:pt x="152400" y="1090990"/>
                </a:lnTo>
                <a:cubicBezTo>
                  <a:pt x="68232" y="1090990"/>
                  <a:pt x="0" y="1022758"/>
                  <a:pt x="0" y="93859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4190">
            <a:solidFill>
              <a:srgbClr val="5E8B7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13493" y="508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6644" y="37058"/>
                </a:moveTo>
                <a:lnTo>
                  <a:pt x="222250" y="42366"/>
                </a:lnTo>
                <a:lnTo>
                  <a:pt x="222250" y="15875"/>
                </a:lnTo>
                <a:cubicBezTo>
                  <a:pt x="222250" y="7094"/>
                  <a:pt x="229344" y="0"/>
                  <a:pt x="238125" y="0"/>
                </a:cubicBezTo>
                <a:cubicBezTo>
                  <a:pt x="246906" y="0"/>
                  <a:pt x="254000" y="7094"/>
                  <a:pt x="254000" y="15875"/>
                </a:cubicBezTo>
                <a:lnTo>
                  <a:pt x="254000" y="79375"/>
                </a:lnTo>
                <a:cubicBezTo>
                  <a:pt x="254000" y="88156"/>
                  <a:pt x="246906" y="95250"/>
                  <a:pt x="238125" y="95250"/>
                </a:cubicBezTo>
                <a:lnTo>
                  <a:pt x="174625" y="95250"/>
                </a:lnTo>
                <a:cubicBezTo>
                  <a:pt x="165844" y="95250"/>
                  <a:pt x="158750" y="88156"/>
                  <a:pt x="158750" y="79375"/>
                </a:cubicBezTo>
                <a:cubicBezTo>
                  <a:pt x="158750" y="70594"/>
                  <a:pt x="165844" y="63500"/>
                  <a:pt x="174625" y="63500"/>
                </a:cubicBezTo>
                <a:lnTo>
                  <a:pt x="198388" y="63500"/>
                </a:lnTo>
                <a:lnTo>
                  <a:pt x="194618" y="59928"/>
                </a:lnTo>
                <a:cubicBezTo>
                  <a:pt x="194518" y="59829"/>
                  <a:pt x="194419" y="59730"/>
                  <a:pt x="194320" y="59630"/>
                </a:cubicBezTo>
                <a:cubicBezTo>
                  <a:pt x="157113" y="22423"/>
                  <a:pt x="96837" y="22423"/>
                  <a:pt x="59630" y="59630"/>
                </a:cubicBezTo>
                <a:cubicBezTo>
                  <a:pt x="22423" y="96837"/>
                  <a:pt x="22423" y="157113"/>
                  <a:pt x="59630" y="194320"/>
                </a:cubicBezTo>
                <a:cubicBezTo>
                  <a:pt x="96837" y="231527"/>
                  <a:pt x="157113" y="231527"/>
                  <a:pt x="194320" y="194320"/>
                </a:cubicBezTo>
                <a:cubicBezTo>
                  <a:pt x="198388" y="190252"/>
                  <a:pt x="202009" y="185936"/>
                  <a:pt x="205184" y="181372"/>
                </a:cubicBezTo>
                <a:cubicBezTo>
                  <a:pt x="210195" y="174179"/>
                  <a:pt x="220117" y="172442"/>
                  <a:pt x="227310" y="177453"/>
                </a:cubicBezTo>
                <a:cubicBezTo>
                  <a:pt x="234504" y="182463"/>
                  <a:pt x="236240" y="192385"/>
                  <a:pt x="231229" y="199579"/>
                </a:cubicBezTo>
                <a:cubicBezTo>
                  <a:pt x="227012" y="205631"/>
                  <a:pt x="222200" y="211386"/>
                  <a:pt x="216793" y="216793"/>
                </a:cubicBezTo>
                <a:cubicBezTo>
                  <a:pt x="167184" y="266402"/>
                  <a:pt x="86767" y="266402"/>
                  <a:pt x="37207" y="216793"/>
                </a:cubicBezTo>
                <a:cubicBezTo>
                  <a:pt x="-12353" y="167184"/>
                  <a:pt x="-12402" y="86816"/>
                  <a:pt x="37207" y="37207"/>
                </a:cubicBezTo>
                <a:cubicBezTo>
                  <a:pt x="86767" y="-12353"/>
                  <a:pt x="167035" y="-12402"/>
                  <a:pt x="216644" y="3705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12078002" y="5384800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 Worker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084352" y="5638800"/>
            <a:ext cx="331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80302" y="6183086"/>
            <a:ext cx="2424490" cy="1192590"/>
          </a:xfrm>
          <a:custGeom>
            <a:avLst/>
            <a:gdLst/>
            <a:ahLst/>
            <a:cxnLst/>
            <a:rect l="l" t="t" r="r" b="b"/>
            <a:pathLst>
              <a:path w="2424490" h="1192590">
                <a:moveTo>
                  <a:pt x="152401" y="0"/>
                </a:moveTo>
                <a:lnTo>
                  <a:pt x="2272089" y="0"/>
                </a:lnTo>
                <a:cubicBezTo>
                  <a:pt x="2356258" y="0"/>
                  <a:pt x="2424490" y="68232"/>
                  <a:pt x="2424490" y="152401"/>
                </a:cubicBezTo>
                <a:lnTo>
                  <a:pt x="2424490" y="1040189"/>
                </a:lnTo>
                <a:cubicBezTo>
                  <a:pt x="2424490" y="1124358"/>
                  <a:pt x="2356258" y="1192590"/>
                  <a:pt x="2272089" y="1192590"/>
                </a:cubicBezTo>
                <a:lnTo>
                  <a:pt x="152401" y="1192590"/>
                </a:lnTo>
                <a:cubicBezTo>
                  <a:pt x="68232" y="1192590"/>
                  <a:pt x="0" y="1124358"/>
                  <a:pt x="0" y="104018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24190">
            <a:solidFill>
              <a:srgbClr val="5E8B7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42491" y="63475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57150"/>
                </a:moveTo>
                <a:cubicBezTo>
                  <a:pt x="0" y="46613"/>
                  <a:pt x="8513" y="38100"/>
                  <a:pt x="19050" y="38100"/>
                </a:cubicBezTo>
                <a:lnTo>
                  <a:pt x="247650" y="38100"/>
                </a:lnTo>
                <a:cubicBezTo>
                  <a:pt x="258187" y="38100"/>
                  <a:pt x="266700" y="46613"/>
                  <a:pt x="266700" y="57150"/>
                </a:cubicBezTo>
                <a:cubicBezTo>
                  <a:pt x="266700" y="67687"/>
                  <a:pt x="258187" y="76200"/>
                  <a:pt x="247650" y="76200"/>
                </a:cubicBezTo>
                <a:lnTo>
                  <a:pt x="19050" y="76200"/>
                </a:lnTo>
                <a:cubicBezTo>
                  <a:pt x="8513" y="76200"/>
                  <a:pt x="0" y="67687"/>
                  <a:pt x="0" y="57150"/>
                </a:cubicBezTo>
                <a:close/>
                <a:moveTo>
                  <a:pt x="38100" y="152400"/>
                </a:moveTo>
                <a:cubicBezTo>
                  <a:pt x="38100" y="141863"/>
                  <a:pt x="46613" y="133350"/>
                  <a:pt x="5715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57150" y="171450"/>
                </a:lnTo>
                <a:cubicBezTo>
                  <a:pt x="46613" y="171450"/>
                  <a:pt x="38100" y="162937"/>
                  <a:pt x="38100" y="152400"/>
                </a:cubicBezTo>
                <a:close/>
                <a:moveTo>
                  <a:pt x="266700" y="247650"/>
                </a:moveTo>
                <a:cubicBezTo>
                  <a:pt x="266700" y="258187"/>
                  <a:pt x="258187" y="266700"/>
                  <a:pt x="247650" y="266700"/>
                </a:cubicBezTo>
                <a:lnTo>
                  <a:pt x="19050" y="266700"/>
                </a:lnTo>
                <a:cubicBezTo>
                  <a:pt x="8513" y="266700"/>
                  <a:pt x="0" y="258187"/>
                  <a:pt x="0" y="247650"/>
                </a:cubicBezTo>
                <a:cubicBezTo>
                  <a:pt x="0" y="237113"/>
                  <a:pt x="8513" y="228600"/>
                  <a:pt x="19050" y="228600"/>
                </a:cubicBezTo>
                <a:lnTo>
                  <a:pt x="247650" y="228600"/>
                </a:lnTo>
                <a:cubicBezTo>
                  <a:pt x="258187" y="228600"/>
                  <a:pt x="266700" y="237113"/>
                  <a:pt x="266700" y="2476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5895597" y="6703182"/>
            <a:ext cx="199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Apache Kafka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908297" y="7007982"/>
            <a:ext cx="196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Streaming (3+ Brokers)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38470" y="6183086"/>
            <a:ext cx="2132390" cy="1192590"/>
          </a:xfrm>
          <a:custGeom>
            <a:avLst/>
            <a:gdLst/>
            <a:ahLst/>
            <a:cxnLst/>
            <a:rect l="l" t="t" r="r" b="b"/>
            <a:pathLst>
              <a:path w="2132390" h="1192590">
                <a:moveTo>
                  <a:pt x="152401" y="0"/>
                </a:moveTo>
                <a:lnTo>
                  <a:pt x="1979989" y="0"/>
                </a:lnTo>
                <a:cubicBezTo>
                  <a:pt x="2064158" y="0"/>
                  <a:pt x="2132390" y="68232"/>
                  <a:pt x="2132390" y="152401"/>
                </a:cubicBezTo>
                <a:lnTo>
                  <a:pt x="2132390" y="1040189"/>
                </a:lnTo>
                <a:cubicBezTo>
                  <a:pt x="2132390" y="1124358"/>
                  <a:pt x="2064158" y="1192590"/>
                  <a:pt x="1979989" y="1192590"/>
                </a:cubicBezTo>
                <a:lnTo>
                  <a:pt x="152401" y="1192590"/>
                </a:lnTo>
                <a:cubicBezTo>
                  <a:pt x="68232" y="1192590"/>
                  <a:pt x="0" y="1124358"/>
                  <a:pt x="0" y="104018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24190">
            <a:solidFill>
              <a:srgbClr val="4A6D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73659" y="6347582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2" name="Text 50"/>
          <p:cNvSpPr/>
          <p:nvPr/>
        </p:nvSpPr>
        <p:spPr>
          <a:xfrm>
            <a:off x="8653765" y="6703182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Cluster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66465" y="7007982"/>
            <a:ext cx="167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 Layer (3 Nodes)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383466" y="7552268"/>
            <a:ext cx="2284790" cy="1192590"/>
          </a:xfrm>
          <a:custGeom>
            <a:avLst/>
            <a:gdLst/>
            <a:ahLst/>
            <a:cxnLst/>
            <a:rect l="l" t="t" r="r" b="b"/>
            <a:pathLst>
              <a:path w="2284790" h="1192590">
                <a:moveTo>
                  <a:pt x="152401" y="0"/>
                </a:moveTo>
                <a:lnTo>
                  <a:pt x="2132389" y="0"/>
                </a:lnTo>
                <a:cubicBezTo>
                  <a:pt x="2216558" y="0"/>
                  <a:pt x="2284790" y="68232"/>
                  <a:pt x="2284790" y="152401"/>
                </a:cubicBezTo>
                <a:lnTo>
                  <a:pt x="2284790" y="1040189"/>
                </a:lnTo>
                <a:cubicBezTo>
                  <a:pt x="2284790" y="1124358"/>
                  <a:pt x="2216558" y="1192590"/>
                  <a:pt x="2132389" y="1192590"/>
                </a:cubicBezTo>
                <a:lnTo>
                  <a:pt x="152401" y="1192590"/>
                </a:lnTo>
                <a:cubicBezTo>
                  <a:pt x="68232" y="1192590"/>
                  <a:pt x="0" y="1124358"/>
                  <a:pt x="0" y="104018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24190">
            <a:solidFill>
              <a:srgbClr val="4A6D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1226" y="7716763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6" name="Text 54"/>
          <p:cNvSpPr/>
          <p:nvPr/>
        </p:nvSpPr>
        <p:spPr>
          <a:xfrm>
            <a:off x="4598761" y="8072363"/>
            <a:ext cx="185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Primary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611461" y="8377163"/>
            <a:ext cx="182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Operations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893076" y="7552268"/>
            <a:ext cx="2360990" cy="1192590"/>
          </a:xfrm>
          <a:custGeom>
            <a:avLst/>
            <a:gdLst/>
            <a:ahLst/>
            <a:cxnLst/>
            <a:rect l="l" t="t" r="r" b="b"/>
            <a:pathLst>
              <a:path w="2360990" h="1192590">
                <a:moveTo>
                  <a:pt x="152401" y="0"/>
                </a:moveTo>
                <a:lnTo>
                  <a:pt x="2208589" y="0"/>
                </a:lnTo>
                <a:cubicBezTo>
                  <a:pt x="2292758" y="0"/>
                  <a:pt x="2360990" y="68232"/>
                  <a:pt x="2360990" y="152401"/>
                </a:cubicBezTo>
                <a:lnTo>
                  <a:pt x="2360990" y="1040189"/>
                </a:lnTo>
                <a:cubicBezTo>
                  <a:pt x="2360990" y="1124358"/>
                  <a:pt x="2292758" y="1192590"/>
                  <a:pt x="2208589" y="1192590"/>
                </a:cubicBezTo>
                <a:lnTo>
                  <a:pt x="152401" y="1192590"/>
                </a:lnTo>
                <a:cubicBezTo>
                  <a:pt x="68232" y="1192590"/>
                  <a:pt x="0" y="1124358"/>
                  <a:pt x="0" y="104018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24190">
            <a:solidFill>
              <a:srgbClr val="5E8B7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18903" y="77167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1450" y="266700"/>
                </a:moveTo>
                <a:lnTo>
                  <a:pt x="38100" y="266700"/>
                </a:lnTo>
                <a:lnTo>
                  <a:pt x="38100" y="133350"/>
                </a:lnTo>
                <a:lnTo>
                  <a:pt x="66675" y="133350"/>
                </a:lnTo>
                <a:lnTo>
                  <a:pt x="66675" y="95250"/>
                </a:lnTo>
                <a:lnTo>
                  <a:pt x="38100" y="95250"/>
                </a:lnTo>
                <a:cubicBezTo>
                  <a:pt x="17085" y="95250"/>
                  <a:pt x="0" y="112335"/>
                  <a:pt x="0" y="133350"/>
                </a:cubicBezTo>
                <a:lnTo>
                  <a:pt x="0" y="266700"/>
                </a:lnTo>
                <a:cubicBezTo>
                  <a:pt x="0" y="287715"/>
                  <a:pt x="17085" y="304800"/>
                  <a:pt x="38100" y="304800"/>
                </a:cubicBezTo>
                <a:lnTo>
                  <a:pt x="171450" y="304800"/>
                </a:lnTo>
                <a:cubicBezTo>
                  <a:pt x="192465" y="304800"/>
                  <a:pt x="209550" y="287715"/>
                  <a:pt x="209550" y="266700"/>
                </a:cubicBezTo>
                <a:lnTo>
                  <a:pt x="209550" y="238125"/>
                </a:lnTo>
                <a:lnTo>
                  <a:pt x="171450" y="238125"/>
                </a:lnTo>
                <a:lnTo>
                  <a:pt x="171450" y="266700"/>
                </a:lnTo>
                <a:close/>
                <a:moveTo>
                  <a:pt x="133350" y="209550"/>
                </a:moveTo>
                <a:lnTo>
                  <a:pt x="266700" y="209550"/>
                </a:lnTo>
                <a:cubicBezTo>
                  <a:pt x="287715" y="209550"/>
                  <a:pt x="304800" y="192465"/>
                  <a:pt x="304800" y="171450"/>
                </a:cubicBezTo>
                <a:lnTo>
                  <a:pt x="304800" y="38100"/>
                </a:lnTo>
                <a:cubicBezTo>
                  <a:pt x="304800" y="17085"/>
                  <a:pt x="287715" y="0"/>
                  <a:pt x="266700" y="0"/>
                </a:cubicBezTo>
                <a:lnTo>
                  <a:pt x="133350" y="0"/>
                </a:lnTo>
                <a:cubicBezTo>
                  <a:pt x="112335" y="0"/>
                  <a:pt x="95250" y="17085"/>
                  <a:pt x="95250" y="38100"/>
                </a:cubicBezTo>
                <a:lnTo>
                  <a:pt x="95250" y="171450"/>
                </a:lnTo>
                <a:cubicBezTo>
                  <a:pt x="95250" y="192465"/>
                  <a:pt x="112335" y="209550"/>
                  <a:pt x="133350" y="2095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0" name="Text 58"/>
          <p:cNvSpPr/>
          <p:nvPr/>
        </p:nvSpPr>
        <p:spPr>
          <a:xfrm>
            <a:off x="7108372" y="8072363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Replica 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121072" y="8377163"/>
            <a:ext cx="190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Operations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476997" y="7552268"/>
            <a:ext cx="2399090" cy="1192590"/>
          </a:xfrm>
          <a:custGeom>
            <a:avLst/>
            <a:gdLst/>
            <a:ahLst/>
            <a:cxnLst/>
            <a:rect l="l" t="t" r="r" b="b"/>
            <a:pathLst>
              <a:path w="2399090" h="1192590">
                <a:moveTo>
                  <a:pt x="152401" y="0"/>
                </a:moveTo>
                <a:lnTo>
                  <a:pt x="2246689" y="0"/>
                </a:lnTo>
                <a:cubicBezTo>
                  <a:pt x="2330858" y="0"/>
                  <a:pt x="2399090" y="68232"/>
                  <a:pt x="2399090" y="152401"/>
                </a:cubicBezTo>
                <a:lnTo>
                  <a:pt x="2399090" y="1040189"/>
                </a:lnTo>
                <a:cubicBezTo>
                  <a:pt x="2399090" y="1124358"/>
                  <a:pt x="2330858" y="1192590"/>
                  <a:pt x="2246689" y="1192590"/>
                </a:cubicBezTo>
                <a:lnTo>
                  <a:pt x="152401" y="1192590"/>
                </a:lnTo>
                <a:cubicBezTo>
                  <a:pt x="68232" y="1192590"/>
                  <a:pt x="0" y="1124358"/>
                  <a:pt x="0" y="104018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24190">
            <a:solidFill>
              <a:srgbClr val="5E8B7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522328" y="77167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1450" y="266700"/>
                </a:moveTo>
                <a:lnTo>
                  <a:pt x="38100" y="266700"/>
                </a:lnTo>
                <a:lnTo>
                  <a:pt x="38100" y="133350"/>
                </a:lnTo>
                <a:lnTo>
                  <a:pt x="66675" y="133350"/>
                </a:lnTo>
                <a:lnTo>
                  <a:pt x="66675" y="95250"/>
                </a:lnTo>
                <a:lnTo>
                  <a:pt x="38100" y="95250"/>
                </a:lnTo>
                <a:cubicBezTo>
                  <a:pt x="17085" y="95250"/>
                  <a:pt x="0" y="112335"/>
                  <a:pt x="0" y="133350"/>
                </a:cubicBezTo>
                <a:lnTo>
                  <a:pt x="0" y="266700"/>
                </a:lnTo>
                <a:cubicBezTo>
                  <a:pt x="0" y="287715"/>
                  <a:pt x="17085" y="304800"/>
                  <a:pt x="38100" y="304800"/>
                </a:cubicBezTo>
                <a:lnTo>
                  <a:pt x="171450" y="304800"/>
                </a:lnTo>
                <a:cubicBezTo>
                  <a:pt x="192465" y="304800"/>
                  <a:pt x="209550" y="287715"/>
                  <a:pt x="209550" y="266700"/>
                </a:cubicBezTo>
                <a:lnTo>
                  <a:pt x="209550" y="238125"/>
                </a:lnTo>
                <a:lnTo>
                  <a:pt x="171450" y="238125"/>
                </a:lnTo>
                <a:lnTo>
                  <a:pt x="171450" y="266700"/>
                </a:lnTo>
                <a:close/>
                <a:moveTo>
                  <a:pt x="133350" y="209550"/>
                </a:moveTo>
                <a:lnTo>
                  <a:pt x="266700" y="209550"/>
                </a:lnTo>
                <a:cubicBezTo>
                  <a:pt x="287715" y="209550"/>
                  <a:pt x="304800" y="192465"/>
                  <a:pt x="304800" y="171450"/>
                </a:cubicBezTo>
                <a:lnTo>
                  <a:pt x="304800" y="38100"/>
                </a:lnTo>
                <a:cubicBezTo>
                  <a:pt x="304800" y="17085"/>
                  <a:pt x="287715" y="0"/>
                  <a:pt x="266700" y="0"/>
                </a:cubicBezTo>
                <a:lnTo>
                  <a:pt x="133350" y="0"/>
                </a:lnTo>
                <a:cubicBezTo>
                  <a:pt x="112335" y="0"/>
                  <a:pt x="95250" y="17085"/>
                  <a:pt x="95250" y="38100"/>
                </a:cubicBezTo>
                <a:lnTo>
                  <a:pt x="95250" y="171450"/>
                </a:lnTo>
                <a:cubicBezTo>
                  <a:pt x="95250" y="192465"/>
                  <a:pt x="112335" y="209550"/>
                  <a:pt x="133350" y="2095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4" name="Text 62"/>
          <p:cNvSpPr/>
          <p:nvPr/>
        </p:nvSpPr>
        <p:spPr>
          <a:xfrm>
            <a:off x="9692292" y="8072363"/>
            <a:ext cx="196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Replica 2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704992" y="8377163"/>
            <a:ext cx="1943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Operations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977769" y="893475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0799" y="0"/>
                </a:moveTo>
                <a:lnTo>
                  <a:pt x="101601" y="0"/>
                </a:lnTo>
                <a:cubicBezTo>
                  <a:pt x="129638" y="0"/>
                  <a:pt x="152400" y="22762"/>
                  <a:pt x="152400" y="50799"/>
                </a:cubicBezTo>
                <a:lnTo>
                  <a:pt x="152400" y="101601"/>
                </a:lnTo>
                <a:cubicBezTo>
                  <a:pt x="152400" y="129656"/>
                  <a:pt x="129656" y="152400"/>
                  <a:pt x="101601" y="152400"/>
                </a:cubicBezTo>
                <a:lnTo>
                  <a:pt x="50799" y="152400"/>
                </a:lnTo>
                <a:cubicBezTo>
                  <a:pt x="22762" y="152400"/>
                  <a:pt x="0" y="129638"/>
                  <a:pt x="0" y="1016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7" name="Text 65"/>
          <p:cNvSpPr/>
          <p:nvPr/>
        </p:nvSpPr>
        <p:spPr>
          <a:xfrm>
            <a:off x="6231769" y="8909354"/>
            <a:ext cx="97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Services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443712" y="893475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0799" y="0"/>
                </a:moveTo>
                <a:lnTo>
                  <a:pt x="101601" y="0"/>
                </a:lnTo>
                <a:cubicBezTo>
                  <a:pt x="129638" y="0"/>
                  <a:pt x="152400" y="22762"/>
                  <a:pt x="152400" y="50799"/>
                </a:cubicBezTo>
                <a:lnTo>
                  <a:pt x="152400" y="101601"/>
                </a:lnTo>
                <a:cubicBezTo>
                  <a:pt x="152400" y="129656"/>
                  <a:pt x="129656" y="152400"/>
                  <a:pt x="101601" y="152400"/>
                </a:cubicBezTo>
                <a:lnTo>
                  <a:pt x="50799" y="152400"/>
                </a:lnTo>
                <a:cubicBezTo>
                  <a:pt x="22762" y="152400"/>
                  <a:pt x="0" y="129638"/>
                  <a:pt x="0" y="1016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9" name="Text 67"/>
          <p:cNvSpPr/>
          <p:nvPr/>
        </p:nvSpPr>
        <p:spPr>
          <a:xfrm>
            <a:off x="7697712" y="8909354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Supporting Services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329888" y="8946849"/>
            <a:ext cx="125790" cy="125790"/>
          </a:xfrm>
          <a:custGeom>
            <a:avLst/>
            <a:gdLst/>
            <a:ahLst/>
            <a:cxnLst/>
            <a:rect l="l" t="t" r="r" b="b"/>
            <a:pathLst>
              <a:path w="125790" h="125790">
                <a:moveTo>
                  <a:pt x="50800" y="0"/>
                </a:moveTo>
                <a:lnTo>
                  <a:pt x="74990" y="0"/>
                </a:lnTo>
                <a:cubicBezTo>
                  <a:pt x="103028" y="0"/>
                  <a:pt x="125790" y="22763"/>
                  <a:pt x="125790" y="50800"/>
                </a:cubicBezTo>
                <a:lnTo>
                  <a:pt x="125790" y="74990"/>
                </a:lnTo>
                <a:cubicBezTo>
                  <a:pt x="125790" y="103028"/>
                  <a:pt x="103028" y="125790"/>
                  <a:pt x="74990" y="125790"/>
                </a:cubicBezTo>
                <a:lnTo>
                  <a:pt x="50800" y="125790"/>
                </a:lnTo>
                <a:cubicBezTo>
                  <a:pt x="22763" y="125790"/>
                  <a:pt x="0" y="103028"/>
                  <a:pt x="0" y="7499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24190">
            <a:solidFill>
              <a:srgbClr val="4A6D8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571793" y="8909354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DEPLOYMENT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Deployment Strategy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838" y="1579638"/>
            <a:ext cx="7477276" cy="3413276"/>
          </a:xfrm>
          <a:custGeom>
            <a:avLst/>
            <a:gdLst/>
            <a:ahLst/>
            <a:cxnLst/>
            <a:rect l="l" t="t" r="r" b="b"/>
            <a:pathLst>
              <a:path w="7477276" h="3413276">
                <a:moveTo>
                  <a:pt x="152403" y="0"/>
                </a:moveTo>
                <a:lnTo>
                  <a:pt x="7324873" y="0"/>
                </a:lnTo>
                <a:cubicBezTo>
                  <a:pt x="7409043" y="0"/>
                  <a:pt x="7477276" y="68233"/>
                  <a:pt x="7477276" y="152403"/>
                </a:cubicBezTo>
                <a:lnTo>
                  <a:pt x="7477276" y="3260873"/>
                </a:lnTo>
                <a:cubicBezTo>
                  <a:pt x="7477276" y="3345043"/>
                  <a:pt x="7409043" y="3413276"/>
                  <a:pt x="7324873" y="3413276"/>
                </a:cubicBezTo>
                <a:lnTo>
                  <a:pt x="152403" y="3413276"/>
                </a:lnTo>
                <a:cubicBezTo>
                  <a:pt x="68233" y="3413276"/>
                  <a:pt x="0" y="3345043"/>
                  <a:pt x="0" y="326087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876" y="17876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" name="Shape 4"/>
          <p:cNvSpPr/>
          <p:nvPr/>
        </p:nvSpPr>
        <p:spPr>
          <a:xfrm>
            <a:off x="863751" y="19273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381276" y="1863880"/>
            <a:ext cx="281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Blue-Green Deployment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0876" y="2448080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476" y="254968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Downtime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476" y="285448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 traffic instantly between environments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0876" y="3260880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476" y="336248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Rollback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476" y="366728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Revert traffic in seconds if issues detected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0876" y="4073680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476" y="417528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Testing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476" y="448008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new version with production traffic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838" y="5205792"/>
            <a:ext cx="7477276" cy="3413276"/>
          </a:xfrm>
          <a:custGeom>
            <a:avLst/>
            <a:gdLst/>
            <a:ahLst/>
            <a:cxnLst/>
            <a:rect l="l" t="t" r="r" b="b"/>
            <a:pathLst>
              <a:path w="7477276" h="3413276">
                <a:moveTo>
                  <a:pt x="152403" y="0"/>
                </a:moveTo>
                <a:lnTo>
                  <a:pt x="7324873" y="0"/>
                </a:lnTo>
                <a:cubicBezTo>
                  <a:pt x="7409043" y="0"/>
                  <a:pt x="7477276" y="68233"/>
                  <a:pt x="7477276" y="152403"/>
                </a:cubicBezTo>
                <a:lnTo>
                  <a:pt x="7477276" y="3260873"/>
                </a:lnTo>
                <a:cubicBezTo>
                  <a:pt x="7477276" y="3345043"/>
                  <a:pt x="7409043" y="3413276"/>
                  <a:pt x="7324873" y="3413276"/>
                </a:cubicBezTo>
                <a:lnTo>
                  <a:pt x="152403" y="3413276"/>
                </a:lnTo>
                <a:cubicBezTo>
                  <a:pt x="68233" y="3413276"/>
                  <a:pt x="0" y="3345043"/>
                  <a:pt x="0" y="326087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0876" y="54138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751" y="55535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1381276" y="5490028"/>
            <a:ext cx="233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Canary Deployment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0876" y="6074228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476" y="6175828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Gradual Rollout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476" y="6480628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5% → 25% → 50% → 100%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0876" y="6887028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476" y="6988628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Mitigation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476" y="7293428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 blast radius of issues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0876" y="7699828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476" y="7801428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Metrics-Driven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476" y="8106228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Auto-promote based on error rates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59838" y="1579638"/>
            <a:ext cx="7477276" cy="3413276"/>
          </a:xfrm>
          <a:custGeom>
            <a:avLst/>
            <a:gdLst/>
            <a:ahLst/>
            <a:cxnLst/>
            <a:rect l="l" t="t" r="r" b="b"/>
            <a:pathLst>
              <a:path w="7477276" h="3413276">
                <a:moveTo>
                  <a:pt x="152403" y="0"/>
                </a:moveTo>
                <a:lnTo>
                  <a:pt x="7324873" y="0"/>
                </a:lnTo>
                <a:cubicBezTo>
                  <a:pt x="7409043" y="0"/>
                  <a:pt x="7477276" y="68233"/>
                  <a:pt x="7477276" y="152403"/>
                </a:cubicBezTo>
                <a:lnTo>
                  <a:pt x="7477276" y="3260873"/>
                </a:lnTo>
                <a:cubicBezTo>
                  <a:pt x="7477276" y="3345043"/>
                  <a:pt x="7409043" y="3413276"/>
                  <a:pt x="7324873" y="3413276"/>
                </a:cubicBezTo>
                <a:lnTo>
                  <a:pt x="152403" y="3413276"/>
                </a:lnTo>
                <a:cubicBezTo>
                  <a:pt x="68233" y="3413276"/>
                  <a:pt x="0" y="3345043"/>
                  <a:pt x="0" y="326087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67876" y="17876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Shape 30"/>
          <p:cNvSpPr/>
          <p:nvPr/>
        </p:nvSpPr>
        <p:spPr>
          <a:xfrm>
            <a:off x="8610751" y="19273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822" y="91842"/>
                </a:moveTo>
                <a:lnTo>
                  <a:pt x="172522" y="72866"/>
                </a:lnTo>
                <a:cubicBezTo>
                  <a:pt x="178683" y="81483"/>
                  <a:pt x="182969" y="91574"/>
                  <a:pt x="184755" y="102424"/>
                </a:cubicBezTo>
                <a:lnTo>
                  <a:pt x="156002" y="104343"/>
                </a:lnTo>
                <a:cubicBezTo>
                  <a:pt x="154930" y="99834"/>
                  <a:pt x="153144" y="95637"/>
                  <a:pt x="150822" y="91842"/>
                </a:cubicBezTo>
                <a:close/>
                <a:moveTo>
                  <a:pt x="213375" y="100548"/>
                </a:moveTo>
                <a:cubicBezTo>
                  <a:pt x="211009" y="83225"/>
                  <a:pt x="204177" y="67285"/>
                  <a:pt x="194087" y="53980"/>
                </a:cubicBezTo>
                <a:lnTo>
                  <a:pt x="194444" y="53667"/>
                </a:lnTo>
                <a:cubicBezTo>
                  <a:pt x="200471" y="48399"/>
                  <a:pt x="200784" y="39112"/>
                  <a:pt x="195114" y="33486"/>
                </a:cubicBezTo>
                <a:cubicBezTo>
                  <a:pt x="189443" y="27861"/>
                  <a:pt x="180201" y="28129"/>
                  <a:pt x="174933" y="34156"/>
                </a:cubicBezTo>
                <a:lnTo>
                  <a:pt x="174620" y="34513"/>
                </a:lnTo>
                <a:cubicBezTo>
                  <a:pt x="161315" y="24423"/>
                  <a:pt x="145375" y="17591"/>
                  <a:pt x="128052" y="15225"/>
                </a:cubicBezTo>
                <a:lnTo>
                  <a:pt x="128096" y="14734"/>
                </a:lnTo>
                <a:cubicBezTo>
                  <a:pt x="128632" y="6742"/>
                  <a:pt x="122292" y="0"/>
                  <a:pt x="114300" y="0"/>
                </a:cubicBezTo>
                <a:cubicBezTo>
                  <a:pt x="106308" y="0"/>
                  <a:pt x="99968" y="6787"/>
                  <a:pt x="100504" y="14734"/>
                </a:cubicBezTo>
                <a:lnTo>
                  <a:pt x="100548" y="15225"/>
                </a:lnTo>
                <a:cubicBezTo>
                  <a:pt x="83225" y="17591"/>
                  <a:pt x="67285" y="24423"/>
                  <a:pt x="53980" y="34513"/>
                </a:cubicBezTo>
                <a:lnTo>
                  <a:pt x="53667" y="34156"/>
                </a:lnTo>
                <a:cubicBezTo>
                  <a:pt x="48399" y="28129"/>
                  <a:pt x="39112" y="27816"/>
                  <a:pt x="33486" y="33486"/>
                </a:cubicBezTo>
                <a:cubicBezTo>
                  <a:pt x="27861" y="39157"/>
                  <a:pt x="28129" y="48399"/>
                  <a:pt x="34156" y="53667"/>
                </a:cubicBezTo>
                <a:lnTo>
                  <a:pt x="34513" y="53980"/>
                </a:lnTo>
                <a:cubicBezTo>
                  <a:pt x="24423" y="67285"/>
                  <a:pt x="17591" y="83225"/>
                  <a:pt x="15225" y="100548"/>
                </a:cubicBezTo>
                <a:lnTo>
                  <a:pt x="14734" y="100504"/>
                </a:lnTo>
                <a:cubicBezTo>
                  <a:pt x="6742" y="99968"/>
                  <a:pt x="0" y="106308"/>
                  <a:pt x="0" y="114300"/>
                </a:cubicBezTo>
                <a:cubicBezTo>
                  <a:pt x="0" y="122292"/>
                  <a:pt x="6787" y="128632"/>
                  <a:pt x="14734" y="128096"/>
                </a:cubicBezTo>
                <a:lnTo>
                  <a:pt x="15225" y="128052"/>
                </a:lnTo>
                <a:cubicBezTo>
                  <a:pt x="17591" y="145375"/>
                  <a:pt x="24423" y="161315"/>
                  <a:pt x="34513" y="174620"/>
                </a:cubicBezTo>
                <a:lnTo>
                  <a:pt x="34156" y="174933"/>
                </a:lnTo>
                <a:cubicBezTo>
                  <a:pt x="28129" y="180201"/>
                  <a:pt x="27816" y="189488"/>
                  <a:pt x="33486" y="195114"/>
                </a:cubicBezTo>
                <a:cubicBezTo>
                  <a:pt x="39157" y="200739"/>
                  <a:pt x="48399" y="200471"/>
                  <a:pt x="53667" y="194444"/>
                </a:cubicBezTo>
                <a:lnTo>
                  <a:pt x="53980" y="194087"/>
                </a:lnTo>
                <a:cubicBezTo>
                  <a:pt x="67285" y="204177"/>
                  <a:pt x="83225" y="211009"/>
                  <a:pt x="100548" y="213375"/>
                </a:cubicBezTo>
                <a:lnTo>
                  <a:pt x="100504" y="213866"/>
                </a:lnTo>
                <a:cubicBezTo>
                  <a:pt x="99968" y="221858"/>
                  <a:pt x="106308" y="228600"/>
                  <a:pt x="114300" y="228600"/>
                </a:cubicBezTo>
                <a:cubicBezTo>
                  <a:pt x="122292" y="228600"/>
                  <a:pt x="128632" y="221813"/>
                  <a:pt x="128096" y="213866"/>
                </a:cubicBezTo>
                <a:lnTo>
                  <a:pt x="128052" y="213375"/>
                </a:lnTo>
                <a:cubicBezTo>
                  <a:pt x="145375" y="211009"/>
                  <a:pt x="161315" y="204177"/>
                  <a:pt x="174620" y="194087"/>
                </a:cubicBezTo>
                <a:lnTo>
                  <a:pt x="174933" y="194444"/>
                </a:lnTo>
                <a:cubicBezTo>
                  <a:pt x="180201" y="200471"/>
                  <a:pt x="189443" y="200784"/>
                  <a:pt x="195114" y="195114"/>
                </a:cubicBezTo>
                <a:cubicBezTo>
                  <a:pt x="200784" y="189443"/>
                  <a:pt x="200471" y="180201"/>
                  <a:pt x="194444" y="174933"/>
                </a:cubicBezTo>
                <a:lnTo>
                  <a:pt x="194087" y="174620"/>
                </a:lnTo>
                <a:cubicBezTo>
                  <a:pt x="204177" y="161315"/>
                  <a:pt x="211009" y="145375"/>
                  <a:pt x="213375" y="128052"/>
                </a:cubicBezTo>
                <a:lnTo>
                  <a:pt x="213866" y="128096"/>
                </a:lnTo>
                <a:cubicBezTo>
                  <a:pt x="221858" y="128632"/>
                  <a:pt x="228600" y="122292"/>
                  <a:pt x="228600" y="114300"/>
                </a:cubicBezTo>
                <a:cubicBezTo>
                  <a:pt x="228600" y="106308"/>
                  <a:pt x="221813" y="99968"/>
                  <a:pt x="213866" y="100504"/>
                </a:cubicBezTo>
                <a:lnTo>
                  <a:pt x="213375" y="100548"/>
                </a:lnTo>
                <a:close/>
                <a:moveTo>
                  <a:pt x="72866" y="56078"/>
                </a:moveTo>
                <a:cubicBezTo>
                  <a:pt x="81483" y="49917"/>
                  <a:pt x="91574" y="45631"/>
                  <a:pt x="102424" y="43800"/>
                </a:cubicBezTo>
                <a:lnTo>
                  <a:pt x="104343" y="72554"/>
                </a:lnTo>
                <a:cubicBezTo>
                  <a:pt x="99879" y="73625"/>
                  <a:pt x="95637" y="75411"/>
                  <a:pt x="91842" y="77733"/>
                </a:cubicBezTo>
                <a:lnTo>
                  <a:pt x="72866" y="56034"/>
                </a:lnTo>
                <a:close/>
                <a:moveTo>
                  <a:pt x="43845" y="102424"/>
                </a:moveTo>
                <a:cubicBezTo>
                  <a:pt x="45675" y="91529"/>
                  <a:pt x="49962" y="81483"/>
                  <a:pt x="56123" y="72866"/>
                </a:cubicBezTo>
                <a:lnTo>
                  <a:pt x="77822" y="91842"/>
                </a:lnTo>
                <a:cubicBezTo>
                  <a:pt x="75456" y="95637"/>
                  <a:pt x="73715" y="99879"/>
                  <a:pt x="72643" y="104343"/>
                </a:cubicBezTo>
                <a:lnTo>
                  <a:pt x="43889" y="102424"/>
                </a:lnTo>
                <a:close/>
                <a:moveTo>
                  <a:pt x="56123" y="155734"/>
                </a:moveTo>
                <a:cubicBezTo>
                  <a:pt x="49962" y="147117"/>
                  <a:pt x="45675" y="137026"/>
                  <a:pt x="43845" y="126176"/>
                </a:cubicBezTo>
                <a:lnTo>
                  <a:pt x="72598" y="124257"/>
                </a:lnTo>
                <a:cubicBezTo>
                  <a:pt x="73670" y="128766"/>
                  <a:pt x="75456" y="132963"/>
                  <a:pt x="77778" y="136758"/>
                </a:cubicBezTo>
                <a:lnTo>
                  <a:pt x="56078" y="155734"/>
                </a:lnTo>
                <a:close/>
                <a:moveTo>
                  <a:pt x="102468" y="184755"/>
                </a:moveTo>
                <a:cubicBezTo>
                  <a:pt x="91574" y="182925"/>
                  <a:pt x="81528" y="178638"/>
                  <a:pt x="72911" y="172522"/>
                </a:cubicBezTo>
                <a:lnTo>
                  <a:pt x="91886" y="150822"/>
                </a:lnTo>
                <a:cubicBezTo>
                  <a:pt x="95682" y="153189"/>
                  <a:pt x="99923" y="154930"/>
                  <a:pt x="104388" y="156002"/>
                </a:cubicBezTo>
                <a:lnTo>
                  <a:pt x="102468" y="184755"/>
                </a:lnTo>
                <a:close/>
                <a:moveTo>
                  <a:pt x="155778" y="172522"/>
                </a:moveTo>
                <a:cubicBezTo>
                  <a:pt x="147161" y="178683"/>
                  <a:pt x="137071" y="182969"/>
                  <a:pt x="126221" y="184755"/>
                </a:cubicBezTo>
                <a:lnTo>
                  <a:pt x="124301" y="156002"/>
                </a:lnTo>
                <a:cubicBezTo>
                  <a:pt x="128766" y="154930"/>
                  <a:pt x="133008" y="153144"/>
                  <a:pt x="136803" y="150822"/>
                </a:cubicBezTo>
                <a:lnTo>
                  <a:pt x="155778" y="172522"/>
                </a:lnTo>
                <a:close/>
                <a:moveTo>
                  <a:pt x="184800" y="126176"/>
                </a:moveTo>
                <a:cubicBezTo>
                  <a:pt x="182969" y="137071"/>
                  <a:pt x="178683" y="147117"/>
                  <a:pt x="172566" y="155734"/>
                </a:cubicBezTo>
                <a:lnTo>
                  <a:pt x="150867" y="136758"/>
                </a:lnTo>
                <a:cubicBezTo>
                  <a:pt x="153233" y="132918"/>
                  <a:pt x="154975" y="128721"/>
                  <a:pt x="156046" y="124257"/>
                </a:cubicBezTo>
                <a:lnTo>
                  <a:pt x="184800" y="126176"/>
                </a:lnTo>
                <a:close/>
                <a:moveTo>
                  <a:pt x="155778" y="56123"/>
                </a:moveTo>
                <a:lnTo>
                  <a:pt x="136803" y="77822"/>
                </a:lnTo>
                <a:cubicBezTo>
                  <a:pt x="132963" y="75456"/>
                  <a:pt x="128766" y="73715"/>
                  <a:pt x="124301" y="72643"/>
                </a:cubicBezTo>
                <a:lnTo>
                  <a:pt x="126221" y="43889"/>
                </a:lnTo>
                <a:cubicBezTo>
                  <a:pt x="137115" y="45720"/>
                  <a:pt x="147161" y="50006"/>
                  <a:pt x="155778" y="56168"/>
                </a:cubicBezTo>
                <a:close/>
                <a:moveTo>
                  <a:pt x="114300" y="100013"/>
                </a:move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ubicBezTo>
                  <a:pt x="100013" y="106415"/>
                  <a:pt x="106415" y="100013"/>
                  <a:pt x="114300" y="10001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9128276" y="186388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Helm Charts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67876" y="2448080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569476" y="254968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69476" y="285448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Parameterized deployments per environment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67876" y="3260880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569476" y="336248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69476" y="366728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 versions in Git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67876" y="4073680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569476" y="417528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Rollback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69476" y="448008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 rollback to previous version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59838" y="5205792"/>
            <a:ext cx="7477276" cy="3413276"/>
          </a:xfrm>
          <a:custGeom>
            <a:avLst/>
            <a:gdLst/>
            <a:ahLst/>
            <a:cxnLst/>
            <a:rect l="l" t="t" r="r" b="b"/>
            <a:pathLst>
              <a:path w="7477276" h="3413276">
                <a:moveTo>
                  <a:pt x="152403" y="0"/>
                </a:moveTo>
                <a:lnTo>
                  <a:pt x="7324873" y="0"/>
                </a:lnTo>
                <a:cubicBezTo>
                  <a:pt x="7409043" y="0"/>
                  <a:pt x="7477276" y="68233"/>
                  <a:pt x="7477276" y="152403"/>
                </a:cubicBezTo>
                <a:lnTo>
                  <a:pt x="7477276" y="3260873"/>
                </a:lnTo>
                <a:cubicBezTo>
                  <a:pt x="7477276" y="3345043"/>
                  <a:pt x="7409043" y="3413276"/>
                  <a:pt x="7324873" y="3413276"/>
                </a:cubicBezTo>
                <a:lnTo>
                  <a:pt x="152403" y="3413276"/>
                </a:lnTo>
                <a:cubicBezTo>
                  <a:pt x="68233" y="3413276"/>
                  <a:pt x="0" y="3345043"/>
                  <a:pt x="0" y="326087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67876" y="54138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5" name="Shape 43"/>
          <p:cNvSpPr/>
          <p:nvPr/>
        </p:nvSpPr>
        <p:spPr>
          <a:xfrm>
            <a:off x="8625039" y="555352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Text 44"/>
          <p:cNvSpPr/>
          <p:nvPr/>
        </p:nvSpPr>
        <p:spPr>
          <a:xfrm>
            <a:off x="9128276" y="5490028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GitOps Workflow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67876" y="6074228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569476" y="6175828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ArgoCD / Flux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69476" y="6480628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Declarative continuous delivery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67876" y="6887028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569476" y="6988628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 as Source of Truth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69476" y="7293428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configs version controlled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67876" y="7699828"/>
            <a:ext cx="7061200" cy="711200"/>
          </a:xfrm>
          <a:custGeom>
            <a:avLst/>
            <a:gdLst/>
            <a:ahLst/>
            <a:cxnLst/>
            <a:rect l="l" t="t" r="r" b="b"/>
            <a:pathLst>
              <a:path w="7061200" h="7112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609598"/>
                </a:lnTo>
                <a:cubicBezTo>
                  <a:pt x="7061200" y="665711"/>
                  <a:pt x="7015711" y="711200"/>
                  <a:pt x="695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569476" y="7801428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Auto-Sync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69476" y="8106228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drift detection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59838" y="8831946"/>
            <a:ext cx="7477276" cy="1838476"/>
          </a:xfrm>
          <a:custGeom>
            <a:avLst/>
            <a:gdLst/>
            <a:ahLst/>
            <a:cxnLst/>
            <a:rect l="l" t="t" r="r" b="b"/>
            <a:pathLst>
              <a:path w="7477276" h="1838476">
                <a:moveTo>
                  <a:pt x="152391" y="0"/>
                </a:moveTo>
                <a:lnTo>
                  <a:pt x="7324885" y="0"/>
                </a:lnTo>
                <a:cubicBezTo>
                  <a:pt x="7409048" y="0"/>
                  <a:pt x="7477276" y="68228"/>
                  <a:pt x="7477276" y="152391"/>
                </a:cubicBezTo>
                <a:lnTo>
                  <a:pt x="7477276" y="1686085"/>
                </a:lnTo>
                <a:cubicBezTo>
                  <a:pt x="7477276" y="1770248"/>
                  <a:pt x="7409048" y="1838476"/>
                  <a:pt x="7324885" y="1838476"/>
                </a:cubicBezTo>
                <a:lnTo>
                  <a:pt x="152391" y="1838476"/>
                </a:lnTo>
                <a:cubicBezTo>
                  <a:pt x="68228" y="1838476"/>
                  <a:pt x="0" y="1770248"/>
                  <a:pt x="0" y="1686085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D3136"/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67876" y="9039982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Pipeline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67876" y="954798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9" name="Shape 57"/>
          <p:cNvSpPr/>
          <p:nvPr/>
        </p:nvSpPr>
        <p:spPr>
          <a:xfrm>
            <a:off x="8698064" y="9763882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00013" y="0"/>
                </a:moveTo>
                <a:lnTo>
                  <a:pt x="44450" y="0"/>
                </a:lnTo>
                <a:cubicBezTo>
                  <a:pt x="38303" y="0"/>
                  <a:pt x="33337" y="4966"/>
                  <a:pt x="33337" y="11112"/>
                </a:cubicBezTo>
                <a:cubicBezTo>
                  <a:pt x="33337" y="17259"/>
                  <a:pt x="38303" y="22225"/>
                  <a:pt x="44450" y="22225"/>
                </a:cubicBezTo>
                <a:lnTo>
                  <a:pt x="44450" y="74836"/>
                </a:lnTo>
                <a:lnTo>
                  <a:pt x="2604" y="148039"/>
                </a:lnTo>
                <a:cubicBezTo>
                  <a:pt x="903" y="151061"/>
                  <a:pt x="0" y="154429"/>
                  <a:pt x="0" y="157902"/>
                </a:cubicBezTo>
                <a:cubicBezTo>
                  <a:pt x="0" y="168910"/>
                  <a:pt x="8890" y="177800"/>
                  <a:pt x="19898" y="177800"/>
                </a:cubicBezTo>
                <a:lnTo>
                  <a:pt x="135677" y="177800"/>
                </a:lnTo>
                <a:cubicBezTo>
                  <a:pt x="146650" y="177800"/>
                  <a:pt x="155575" y="168910"/>
                  <a:pt x="155575" y="157902"/>
                </a:cubicBezTo>
                <a:cubicBezTo>
                  <a:pt x="155575" y="154429"/>
                  <a:pt x="154672" y="151026"/>
                  <a:pt x="152971" y="148039"/>
                </a:cubicBezTo>
                <a:lnTo>
                  <a:pt x="111125" y="74836"/>
                </a:lnTo>
                <a:lnTo>
                  <a:pt x="111125" y="22225"/>
                </a:lnTo>
                <a:cubicBezTo>
                  <a:pt x="117272" y="22225"/>
                  <a:pt x="122238" y="17259"/>
                  <a:pt x="122238" y="11112"/>
                </a:cubicBezTo>
                <a:cubicBezTo>
                  <a:pt x="122238" y="4966"/>
                  <a:pt x="117272" y="0"/>
                  <a:pt x="111125" y="0"/>
                </a:cubicBezTo>
                <a:lnTo>
                  <a:pt x="100013" y="0"/>
                </a:lnTo>
                <a:close/>
                <a:moveTo>
                  <a:pt x="66675" y="74836"/>
                </a:moveTo>
                <a:lnTo>
                  <a:pt x="66675" y="22225"/>
                </a:lnTo>
                <a:lnTo>
                  <a:pt x="88900" y="22225"/>
                </a:lnTo>
                <a:lnTo>
                  <a:pt x="88900" y="74836"/>
                </a:lnTo>
                <a:cubicBezTo>
                  <a:pt x="88900" y="78690"/>
                  <a:pt x="89907" y="82510"/>
                  <a:pt x="91817" y="85879"/>
                </a:cubicBezTo>
                <a:lnTo>
                  <a:pt x="106263" y="111125"/>
                </a:lnTo>
                <a:lnTo>
                  <a:pt x="49312" y="111125"/>
                </a:lnTo>
                <a:lnTo>
                  <a:pt x="63758" y="85879"/>
                </a:lnTo>
                <a:cubicBezTo>
                  <a:pt x="65668" y="82510"/>
                  <a:pt x="66675" y="78725"/>
                  <a:pt x="66675" y="7483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0" name="Text 58"/>
          <p:cNvSpPr/>
          <p:nvPr/>
        </p:nvSpPr>
        <p:spPr>
          <a:xfrm>
            <a:off x="8423426" y="10208382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301363" y="991628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2" name="Shape 60"/>
          <p:cNvSpPr/>
          <p:nvPr/>
        </p:nvSpPr>
        <p:spPr>
          <a:xfrm>
            <a:off x="11696700" y="954798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3" name="Shape 61"/>
          <p:cNvSpPr/>
          <p:nvPr/>
        </p:nvSpPr>
        <p:spPr>
          <a:xfrm>
            <a:off x="11915775" y="976388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18973" y="3264"/>
                </a:moveTo>
                <a:cubicBezTo>
                  <a:pt x="114632" y="-1077"/>
                  <a:pt x="107583" y="-1077"/>
                  <a:pt x="103242" y="3264"/>
                </a:cubicBezTo>
                <a:cubicBezTo>
                  <a:pt x="98901" y="7605"/>
                  <a:pt x="98901" y="14655"/>
                  <a:pt x="103242" y="18995"/>
                </a:cubicBezTo>
                <a:lnTo>
                  <a:pt x="106506" y="22225"/>
                </a:lnTo>
                <a:lnTo>
                  <a:pt x="9758" y="118973"/>
                </a:lnTo>
                <a:cubicBezTo>
                  <a:pt x="3507" y="125224"/>
                  <a:pt x="0" y="133697"/>
                  <a:pt x="0" y="142553"/>
                </a:cubicBezTo>
                <a:lnTo>
                  <a:pt x="0" y="144463"/>
                </a:lnTo>
                <a:cubicBezTo>
                  <a:pt x="0" y="162868"/>
                  <a:pt x="14932" y="177800"/>
                  <a:pt x="33337" y="177800"/>
                </a:cubicBezTo>
                <a:lnTo>
                  <a:pt x="35247" y="177800"/>
                </a:lnTo>
                <a:cubicBezTo>
                  <a:pt x="44103" y="177800"/>
                  <a:pt x="52576" y="174293"/>
                  <a:pt x="58827" y="168042"/>
                </a:cubicBezTo>
                <a:lnTo>
                  <a:pt x="155575" y="71294"/>
                </a:lnTo>
                <a:lnTo>
                  <a:pt x="158839" y="74558"/>
                </a:lnTo>
                <a:cubicBezTo>
                  <a:pt x="163180" y="78899"/>
                  <a:pt x="170230" y="78899"/>
                  <a:pt x="174570" y="74558"/>
                </a:cubicBezTo>
                <a:cubicBezTo>
                  <a:pt x="178911" y="70217"/>
                  <a:pt x="178911" y="63168"/>
                  <a:pt x="174570" y="58827"/>
                </a:cubicBezTo>
                <a:lnTo>
                  <a:pt x="119008" y="3264"/>
                </a:lnTo>
                <a:close/>
                <a:moveTo>
                  <a:pt x="71294" y="88900"/>
                </a:moveTo>
                <a:lnTo>
                  <a:pt x="122238" y="37956"/>
                </a:lnTo>
                <a:lnTo>
                  <a:pt x="139844" y="55563"/>
                </a:lnTo>
                <a:lnTo>
                  <a:pt x="106506" y="88900"/>
                </a:lnTo>
                <a:lnTo>
                  <a:pt x="71259" y="8890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4" name="Text 62"/>
          <p:cNvSpPr/>
          <p:nvPr/>
        </p:nvSpPr>
        <p:spPr>
          <a:xfrm>
            <a:off x="11652250" y="10208382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3530187" y="991628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6" name="Shape 64"/>
          <p:cNvSpPr/>
          <p:nvPr/>
        </p:nvSpPr>
        <p:spPr>
          <a:xfrm>
            <a:off x="14925525" y="954798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7" name="Shape 65"/>
          <p:cNvSpPr/>
          <p:nvPr/>
        </p:nvSpPr>
        <p:spPr>
          <a:xfrm>
            <a:off x="15144600" y="976388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4450" y="111125"/>
                </a:moveTo>
                <a:lnTo>
                  <a:pt x="8508" y="111125"/>
                </a:lnTo>
                <a:cubicBezTo>
                  <a:pt x="-139" y="111125"/>
                  <a:pt x="-5452" y="101714"/>
                  <a:pt x="-1007" y="94283"/>
                </a:cubicBezTo>
                <a:lnTo>
                  <a:pt x="17363" y="63654"/>
                </a:lnTo>
                <a:cubicBezTo>
                  <a:pt x="20384" y="58618"/>
                  <a:pt x="25802" y="55563"/>
                  <a:pt x="31671" y="55563"/>
                </a:cubicBezTo>
                <a:lnTo>
                  <a:pt x="64661" y="55563"/>
                </a:lnTo>
                <a:cubicBezTo>
                  <a:pt x="91088" y="10800"/>
                  <a:pt x="130502" y="8543"/>
                  <a:pt x="156860" y="12397"/>
                </a:cubicBezTo>
                <a:cubicBezTo>
                  <a:pt x="161305" y="13057"/>
                  <a:pt x="164778" y="16530"/>
                  <a:pt x="165403" y="20940"/>
                </a:cubicBezTo>
                <a:cubicBezTo>
                  <a:pt x="169257" y="47298"/>
                  <a:pt x="167000" y="86712"/>
                  <a:pt x="122238" y="113139"/>
                </a:cubicBezTo>
                <a:lnTo>
                  <a:pt x="122238" y="146129"/>
                </a:lnTo>
                <a:cubicBezTo>
                  <a:pt x="122238" y="151998"/>
                  <a:pt x="119182" y="157416"/>
                  <a:pt x="114146" y="160437"/>
                </a:cubicBezTo>
                <a:lnTo>
                  <a:pt x="83517" y="178807"/>
                </a:lnTo>
                <a:cubicBezTo>
                  <a:pt x="76121" y="183252"/>
                  <a:pt x="66675" y="177904"/>
                  <a:pt x="66675" y="169292"/>
                </a:cubicBezTo>
                <a:lnTo>
                  <a:pt x="66675" y="133350"/>
                </a:lnTo>
                <a:cubicBezTo>
                  <a:pt x="66675" y="121092"/>
                  <a:pt x="56708" y="111125"/>
                  <a:pt x="44450" y="111125"/>
                </a:cubicBezTo>
                <a:lnTo>
                  <a:pt x="44415" y="111125"/>
                </a:lnTo>
                <a:close/>
                <a:moveTo>
                  <a:pt x="138906" y="55563"/>
                </a:moveTo>
                <a:cubicBezTo>
                  <a:pt x="138906" y="46363"/>
                  <a:pt x="131437" y="38894"/>
                  <a:pt x="122238" y="38894"/>
                </a:cubicBezTo>
                <a:cubicBezTo>
                  <a:pt x="113038" y="38894"/>
                  <a:pt x="105569" y="46363"/>
                  <a:pt x="105569" y="55563"/>
                </a:cubicBezTo>
                <a:cubicBezTo>
                  <a:pt x="105569" y="64762"/>
                  <a:pt x="113038" y="72231"/>
                  <a:pt x="122238" y="72231"/>
                </a:cubicBezTo>
                <a:cubicBezTo>
                  <a:pt x="131437" y="72231"/>
                  <a:pt x="138906" y="64762"/>
                  <a:pt x="138906" y="5556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8" name="Text 66"/>
          <p:cNvSpPr/>
          <p:nvPr/>
        </p:nvSpPr>
        <p:spPr>
          <a:xfrm>
            <a:off x="14881075" y="10208382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MONITORING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Monitoring &amp; Observability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838" y="1579638"/>
            <a:ext cx="4937276" cy="3413276"/>
          </a:xfrm>
          <a:custGeom>
            <a:avLst/>
            <a:gdLst/>
            <a:ahLst/>
            <a:cxnLst/>
            <a:rect l="l" t="t" r="r" b="b"/>
            <a:pathLst>
              <a:path w="4937276" h="3413276">
                <a:moveTo>
                  <a:pt x="152403" y="0"/>
                </a:moveTo>
                <a:lnTo>
                  <a:pt x="4784873" y="0"/>
                </a:lnTo>
                <a:cubicBezTo>
                  <a:pt x="4869043" y="0"/>
                  <a:pt x="4937276" y="68233"/>
                  <a:pt x="4937276" y="152403"/>
                </a:cubicBezTo>
                <a:lnTo>
                  <a:pt x="4937276" y="3260873"/>
                </a:lnTo>
                <a:cubicBezTo>
                  <a:pt x="4937276" y="3345043"/>
                  <a:pt x="4869043" y="3413276"/>
                  <a:pt x="4784873" y="3413276"/>
                </a:cubicBezTo>
                <a:lnTo>
                  <a:pt x="152403" y="3413276"/>
                </a:lnTo>
                <a:cubicBezTo>
                  <a:pt x="68233" y="3413276"/>
                  <a:pt x="0" y="3345043"/>
                  <a:pt x="0" y="326087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876" y="17876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" name="Shape 4"/>
          <p:cNvSpPr/>
          <p:nvPr/>
        </p:nvSpPr>
        <p:spPr>
          <a:xfrm>
            <a:off x="863751" y="19273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381276" y="1863880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0876" y="24480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476" y="25496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476" y="28544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Time-series metrics collection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0876" y="32608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476" y="33624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Grafana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476" y="36672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 and dashboards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0876" y="40736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476" y="41752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476" y="44800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Latency, throughput, error rates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838" y="5154992"/>
            <a:ext cx="4937276" cy="3413276"/>
          </a:xfrm>
          <a:custGeom>
            <a:avLst/>
            <a:gdLst/>
            <a:ahLst/>
            <a:cxnLst/>
            <a:rect l="l" t="t" r="r" b="b"/>
            <a:pathLst>
              <a:path w="4937276" h="3413276">
                <a:moveTo>
                  <a:pt x="152403" y="0"/>
                </a:moveTo>
                <a:lnTo>
                  <a:pt x="4784873" y="0"/>
                </a:lnTo>
                <a:cubicBezTo>
                  <a:pt x="4869043" y="0"/>
                  <a:pt x="4937276" y="68233"/>
                  <a:pt x="4937276" y="152403"/>
                </a:cubicBezTo>
                <a:lnTo>
                  <a:pt x="4937276" y="3260873"/>
                </a:lnTo>
                <a:cubicBezTo>
                  <a:pt x="4937276" y="3345043"/>
                  <a:pt x="4869043" y="3413276"/>
                  <a:pt x="4784873" y="3413276"/>
                </a:cubicBezTo>
                <a:lnTo>
                  <a:pt x="152403" y="3413276"/>
                </a:lnTo>
                <a:cubicBezTo>
                  <a:pt x="68233" y="3413276"/>
                  <a:pt x="0" y="3345043"/>
                  <a:pt x="0" y="326087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0876" y="53630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Shape 17"/>
          <p:cNvSpPr/>
          <p:nvPr/>
        </p:nvSpPr>
        <p:spPr>
          <a:xfrm>
            <a:off x="892326" y="550272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1381276" y="5439228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0876" y="6023428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476" y="6125028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ELK Stack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476" y="6429828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Elasticsearch, Logstash, Kibana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0876" y="6836228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476" y="6937828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Logs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476" y="7242628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format with correlation IDs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0876" y="7649028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476" y="7750628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Retention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476" y="8055428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days hot, 90 days warm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60572" y="1579638"/>
            <a:ext cx="4937276" cy="3413276"/>
          </a:xfrm>
          <a:custGeom>
            <a:avLst/>
            <a:gdLst/>
            <a:ahLst/>
            <a:cxnLst/>
            <a:rect l="l" t="t" r="r" b="b"/>
            <a:pathLst>
              <a:path w="4937276" h="3413276">
                <a:moveTo>
                  <a:pt x="152403" y="0"/>
                </a:moveTo>
                <a:lnTo>
                  <a:pt x="4784873" y="0"/>
                </a:lnTo>
                <a:cubicBezTo>
                  <a:pt x="4869043" y="0"/>
                  <a:pt x="4937276" y="68233"/>
                  <a:pt x="4937276" y="152403"/>
                </a:cubicBezTo>
                <a:lnTo>
                  <a:pt x="4937276" y="3260873"/>
                </a:lnTo>
                <a:cubicBezTo>
                  <a:pt x="4937276" y="3345043"/>
                  <a:pt x="4869043" y="3413276"/>
                  <a:pt x="4784873" y="3413276"/>
                </a:cubicBezTo>
                <a:lnTo>
                  <a:pt x="152403" y="3413276"/>
                </a:lnTo>
                <a:cubicBezTo>
                  <a:pt x="68233" y="3413276"/>
                  <a:pt x="0" y="3345043"/>
                  <a:pt x="0" y="326087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8610" y="17876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2" name="Shape 30"/>
          <p:cNvSpPr/>
          <p:nvPr/>
        </p:nvSpPr>
        <p:spPr>
          <a:xfrm>
            <a:off x="6011485" y="19273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6529010" y="1863880"/>
            <a:ext cx="87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68610" y="24480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970210" y="25496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Jaeger / Zipkin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70210" y="28544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tracing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68610" y="32608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970210" y="33624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OpenTelemetry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70210" y="36672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instrumentation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68610" y="40736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970210" y="41752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Trace Context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70210" y="44800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Propagate across services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660572" y="5154992"/>
            <a:ext cx="4937276" cy="2600476"/>
          </a:xfrm>
          <a:custGeom>
            <a:avLst/>
            <a:gdLst/>
            <a:ahLst/>
            <a:cxnLst/>
            <a:rect l="l" t="t" r="r" b="b"/>
            <a:pathLst>
              <a:path w="4937276" h="2600476">
                <a:moveTo>
                  <a:pt x="152388" y="0"/>
                </a:moveTo>
                <a:lnTo>
                  <a:pt x="4784888" y="0"/>
                </a:lnTo>
                <a:cubicBezTo>
                  <a:pt x="4869050" y="0"/>
                  <a:pt x="4937276" y="68226"/>
                  <a:pt x="4937276" y="152388"/>
                </a:cubicBezTo>
                <a:lnTo>
                  <a:pt x="4937276" y="2448088"/>
                </a:lnTo>
                <a:cubicBezTo>
                  <a:pt x="4937276" y="2532250"/>
                  <a:pt x="4869050" y="2600476"/>
                  <a:pt x="4784888" y="2600476"/>
                </a:cubicBezTo>
                <a:lnTo>
                  <a:pt x="152388" y="2600476"/>
                </a:lnTo>
                <a:cubicBezTo>
                  <a:pt x="68226" y="2600476"/>
                  <a:pt x="0" y="2532250"/>
                  <a:pt x="0" y="2448088"/>
                </a:cubicBezTo>
                <a:lnTo>
                  <a:pt x="0" y="152388"/>
                </a:lnTo>
                <a:cubicBezTo>
                  <a:pt x="0" y="68226"/>
                  <a:pt x="68226" y="0"/>
                  <a:pt x="15238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68610" y="53630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5" name="Shape 43"/>
          <p:cNvSpPr/>
          <p:nvPr/>
        </p:nvSpPr>
        <p:spPr>
          <a:xfrm>
            <a:off x="6011485" y="55027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Text 44"/>
          <p:cNvSpPr/>
          <p:nvPr/>
        </p:nvSpPr>
        <p:spPr>
          <a:xfrm>
            <a:off x="6529010" y="5439228"/>
            <a:ext cx="157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Checks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868610" y="6023428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970210" y="6125028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Liveness Probe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970210" y="6429828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/actuator/health/liveness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68610" y="6836228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970210" y="6937828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Readiness Probe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970210" y="7242628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/actuator/health/readiness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808305" y="1579638"/>
            <a:ext cx="4937276" cy="3260876"/>
          </a:xfrm>
          <a:custGeom>
            <a:avLst/>
            <a:gdLst/>
            <a:ahLst/>
            <a:cxnLst/>
            <a:rect l="l" t="t" r="r" b="b"/>
            <a:pathLst>
              <a:path w="4937276" h="3260876">
                <a:moveTo>
                  <a:pt x="152413" y="0"/>
                </a:moveTo>
                <a:lnTo>
                  <a:pt x="4784863" y="0"/>
                </a:lnTo>
                <a:cubicBezTo>
                  <a:pt x="4869038" y="0"/>
                  <a:pt x="4937276" y="68238"/>
                  <a:pt x="4937276" y="152413"/>
                </a:cubicBezTo>
                <a:lnTo>
                  <a:pt x="4937276" y="3108463"/>
                </a:lnTo>
                <a:cubicBezTo>
                  <a:pt x="4937276" y="3192638"/>
                  <a:pt x="4869038" y="3260876"/>
                  <a:pt x="4784863" y="3260876"/>
                </a:cubicBezTo>
                <a:lnTo>
                  <a:pt x="152413" y="3260876"/>
                </a:lnTo>
                <a:cubicBezTo>
                  <a:pt x="68238" y="3260876"/>
                  <a:pt x="0" y="3192638"/>
                  <a:pt x="0" y="3108463"/>
                </a:cubicBezTo>
                <a:lnTo>
                  <a:pt x="0" y="152413"/>
                </a:lnTo>
                <a:cubicBezTo>
                  <a:pt x="0" y="68294"/>
                  <a:pt x="68294" y="0"/>
                  <a:pt x="152413" y="0"/>
                </a:cubicBezTo>
                <a:close/>
              </a:path>
            </a:pathLst>
          </a:custGeom>
          <a:solidFill>
            <a:srgbClr val="2D3136"/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062381" y="185118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0"/>
                </a:moveTo>
                <a:cubicBezTo>
                  <a:pt x="92110" y="0"/>
                  <a:pt x="85725" y="6385"/>
                  <a:pt x="85725" y="14288"/>
                </a:cubicBezTo>
                <a:lnTo>
                  <a:pt x="85725" y="15716"/>
                </a:lnTo>
                <a:cubicBezTo>
                  <a:pt x="53132" y="22324"/>
                  <a:pt x="28575" y="51167"/>
                  <a:pt x="28575" y="85725"/>
                </a:cubicBezTo>
                <a:lnTo>
                  <a:pt x="28575" y="95414"/>
                </a:lnTo>
                <a:cubicBezTo>
                  <a:pt x="28575" y="116890"/>
                  <a:pt x="21253" y="137740"/>
                  <a:pt x="7858" y="154528"/>
                </a:cubicBezTo>
                <a:lnTo>
                  <a:pt x="3483" y="159975"/>
                </a:lnTo>
                <a:cubicBezTo>
                  <a:pt x="1206" y="162788"/>
                  <a:pt x="0" y="166271"/>
                  <a:pt x="0" y="169887"/>
                </a:cubicBezTo>
                <a:cubicBezTo>
                  <a:pt x="0" y="178638"/>
                  <a:pt x="7099" y="185738"/>
                  <a:pt x="15850" y="185738"/>
                </a:cubicBezTo>
                <a:lnTo>
                  <a:pt x="184130" y="185738"/>
                </a:lnTo>
                <a:cubicBezTo>
                  <a:pt x="192881" y="185738"/>
                  <a:pt x="199980" y="178638"/>
                  <a:pt x="199980" y="169887"/>
                </a:cubicBezTo>
                <a:cubicBezTo>
                  <a:pt x="199980" y="166271"/>
                  <a:pt x="198775" y="162788"/>
                  <a:pt x="196498" y="159975"/>
                </a:cubicBezTo>
                <a:lnTo>
                  <a:pt x="192122" y="154528"/>
                </a:lnTo>
                <a:cubicBezTo>
                  <a:pt x="178772" y="137740"/>
                  <a:pt x="171450" y="116890"/>
                  <a:pt x="171450" y="95414"/>
                </a:cubicBezTo>
                <a:lnTo>
                  <a:pt x="171450" y="85725"/>
                </a:lnTo>
                <a:cubicBezTo>
                  <a:pt x="171450" y="51167"/>
                  <a:pt x="146893" y="22324"/>
                  <a:pt x="114300" y="15716"/>
                </a:cubicBezTo>
                <a:lnTo>
                  <a:pt x="114300" y="14287"/>
                </a:lnTo>
                <a:cubicBezTo>
                  <a:pt x="114300" y="6385"/>
                  <a:pt x="107915" y="0"/>
                  <a:pt x="100013" y="0"/>
                </a:cubicBezTo>
                <a:close/>
                <a:moveTo>
                  <a:pt x="72330" y="207169"/>
                </a:moveTo>
                <a:cubicBezTo>
                  <a:pt x="75501" y="219492"/>
                  <a:pt x="86707" y="228600"/>
                  <a:pt x="100013" y="228600"/>
                </a:cubicBezTo>
                <a:cubicBezTo>
                  <a:pt x="113318" y="228600"/>
                  <a:pt x="124524" y="219492"/>
                  <a:pt x="127695" y="207169"/>
                </a:cubicBezTo>
                <a:lnTo>
                  <a:pt x="72330" y="207169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55" name="Text 53"/>
          <p:cNvSpPr/>
          <p:nvPr/>
        </p:nvSpPr>
        <p:spPr>
          <a:xfrm>
            <a:off x="11308443" y="178768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16343" y="22956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1117943" y="23972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AlertManager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17943" y="27020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alerts to teams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016343" y="31084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1117943" y="32100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PagerDuty / Slack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117943" y="35148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On-call notifications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016343" y="3921280"/>
            <a:ext cx="4521200" cy="711200"/>
          </a:xfrm>
          <a:custGeom>
            <a:avLst/>
            <a:gdLst/>
            <a:ahLst/>
            <a:cxnLst/>
            <a:rect l="l" t="t" r="r" b="b"/>
            <a:pathLst>
              <a:path w="4521200" h="711200">
                <a:moveTo>
                  <a:pt x="101602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609598"/>
                </a:lnTo>
                <a:cubicBezTo>
                  <a:pt x="4521200" y="665711"/>
                  <a:pt x="4475711" y="711200"/>
                  <a:pt x="441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1117943" y="402288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 Alerts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117943" y="4327680"/>
            <a:ext cx="439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budget burn rate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808305" y="5002592"/>
            <a:ext cx="4937276" cy="2498876"/>
          </a:xfrm>
          <a:custGeom>
            <a:avLst/>
            <a:gdLst/>
            <a:ahLst/>
            <a:cxnLst/>
            <a:rect l="l" t="t" r="r" b="b"/>
            <a:pathLst>
              <a:path w="4937276" h="2498876">
                <a:moveTo>
                  <a:pt x="152406" y="0"/>
                </a:moveTo>
                <a:lnTo>
                  <a:pt x="4784870" y="0"/>
                </a:lnTo>
                <a:cubicBezTo>
                  <a:pt x="4869041" y="0"/>
                  <a:pt x="4937276" y="68235"/>
                  <a:pt x="4937276" y="152406"/>
                </a:cubicBezTo>
                <a:lnTo>
                  <a:pt x="4937276" y="2346470"/>
                </a:lnTo>
                <a:cubicBezTo>
                  <a:pt x="4937276" y="2430641"/>
                  <a:pt x="4869041" y="2498876"/>
                  <a:pt x="4784870" y="2498876"/>
                </a:cubicBezTo>
                <a:lnTo>
                  <a:pt x="152406" y="2498876"/>
                </a:lnTo>
                <a:cubicBezTo>
                  <a:pt x="68235" y="2498876"/>
                  <a:pt x="0" y="2430641"/>
                  <a:pt x="0" y="2346470"/>
                </a:cubicBezTo>
                <a:lnTo>
                  <a:pt x="0" y="152406"/>
                </a:lnTo>
                <a:cubicBezTo>
                  <a:pt x="0" y="68235"/>
                  <a:pt x="68235" y="0"/>
                  <a:pt x="15240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16343" y="5210628"/>
            <a:ext cx="463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SLO Definitions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1016343" y="57186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1117943" y="5820228"/>
            <a:ext cx="92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4951832" y="5820228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1016343" y="62774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1117943" y="6379028"/>
            <a:ext cx="114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Latency (p99)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4808502" y="6379028"/>
            <a:ext cx="71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6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1016343" y="68362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1117943" y="6937828"/>
            <a:ext cx="86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Rate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5001951" y="6937828"/>
            <a:ext cx="52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&lt;0.1%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808305" y="7663546"/>
            <a:ext cx="4937276" cy="1381276"/>
          </a:xfrm>
          <a:custGeom>
            <a:avLst/>
            <a:gdLst/>
            <a:ahLst/>
            <a:cxnLst/>
            <a:rect l="l" t="t" r="r" b="b"/>
            <a:pathLst>
              <a:path w="4937276" h="1381276">
                <a:moveTo>
                  <a:pt x="152396" y="0"/>
                </a:moveTo>
                <a:lnTo>
                  <a:pt x="4784880" y="0"/>
                </a:lnTo>
                <a:cubicBezTo>
                  <a:pt x="4869046" y="0"/>
                  <a:pt x="4937276" y="68230"/>
                  <a:pt x="4937276" y="152396"/>
                </a:cubicBezTo>
                <a:lnTo>
                  <a:pt x="4937276" y="1228880"/>
                </a:lnTo>
                <a:cubicBezTo>
                  <a:pt x="4937276" y="1313046"/>
                  <a:pt x="4869046" y="1381276"/>
                  <a:pt x="4784880" y="1381276"/>
                </a:cubicBezTo>
                <a:lnTo>
                  <a:pt x="152396" y="1381276"/>
                </a:lnTo>
                <a:cubicBezTo>
                  <a:pt x="68230" y="1381276"/>
                  <a:pt x="0" y="1313046"/>
                  <a:pt x="0" y="1228880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016343" y="7871582"/>
            <a:ext cx="463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Runbooks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016343" y="8328782"/>
            <a:ext cx="461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Documented procedures for common incidents and troubleshooting steps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TECH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Technology Stack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838" y="1579638"/>
            <a:ext cx="4937276" cy="3210076"/>
          </a:xfrm>
          <a:custGeom>
            <a:avLst/>
            <a:gdLst/>
            <a:ahLst/>
            <a:cxnLst/>
            <a:rect l="l" t="t" r="r" b="b"/>
            <a:pathLst>
              <a:path w="4937276" h="3210076">
                <a:moveTo>
                  <a:pt x="152414" y="0"/>
                </a:moveTo>
                <a:lnTo>
                  <a:pt x="4784862" y="0"/>
                </a:lnTo>
                <a:cubicBezTo>
                  <a:pt x="4869038" y="0"/>
                  <a:pt x="4937276" y="68238"/>
                  <a:pt x="4937276" y="152414"/>
                </a:cubicBezTo>
                <a:lnTo>
                  <a:pt x="4937276" y="3057662"/>
                </a:lnTo>
                <a:cubicBezTo>
                  <a:pt x="4937276" y="3141838"/>
                  <a:pt x="4869038" y="3210076"/>
                  <a:pt x="4784862" y="3210076"/>
                </a:cubicBezTo>
                <a:lnTo>
                  <a:pt x="152414" y="3210076"/>
                </a:lnTo>
                <a:cubicBezTo>
                  <a:pt x="68238" y="3210076"/>
                  <a:pt x="0" y="3141838"/>
                  <a:pt x="0" y="3057662"/>
                </a:cubicBezTo>
                <a:lnTo>
                  <a:pt x="0" y="152414"/>
                </a:lnTo>
                <a:cubicBezTo>
                  <a:pt x="0" y="68295"/>
                  <a:pt x="68295" y="0"/>
                  <a:pt x="15241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876" y="17876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" name="Shape 4"/>
          <p:cNvSpPr/>
          <p:nvPr/>
        </p:nvSpPr>
        <p:spPr>
          <a:xfrm>
            <a:off x="849464" y="192738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381276" y="1863880"/>
            <a:ext cx="99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0876" y="24480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476" y="254968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67351" y="2575080"/>
            <a:ext cx="342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3.2+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0876" y="30068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476" y="3108480"/>
            <a:ext cx="40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35513" y="3133880"/>
            <a:ext cx="48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LTS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0876" y="35656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476" y="3667280"/>
            <a:ext cx="62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79370" y="369268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7.4+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0876" y="41244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2476" y="4226080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64932" y="4251480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6.2+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2838" y="4951792"/>
            <a:ext cx="4937276" cy="2651276"/>
          </a:xfrm>
          <a:custGeom>
            <a:avLst/>
            <a:gdLst/>
            <a:ahLst/>
            <a:cxnLst/>
            <a:rect l="l" t="t" r="r" b="b"/>
            <a:pathLst>
              <a:path w="4937276" h="2651276">
                <a:moveTo>
                  <a:pt x="152395" y="0"/>
                </a:moveTo>
                <a:lnTo>
                  <a:pt x="4784881" y="0"/>
                </a:lnTo>
                <a:cubicBezTo>
                  <a:pt x="4869046" y="0"/>
                  <a:pt x="4937276" y="68230"/>
                  <a:pt x="4937276" y="152395"/>
                </a:cubicBezTo>
                <a:lnTo>
                  <a:pt x="4937276" y="2498881"/>
                </a:lnTo>
                <a:cubicBezTo>
                  <a:pt x="4937276" y="2582990"/>
                  <a:pt x="4868990" y="2651276"/>
                  <a:pt x="4784881" y="2651276"/>
                </a:cubicBezTo>
                <a:lnTo>
                  <a:pt x="152395" y="2651276"/>
                </a:lnTo>
                <a:cubicBezTo>
                  <a:pt x="68230" y="2651276"/>
                  <a:pt x="0" y="2583046"/>
                  <a:pt x="0" y="2498881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876" y="51598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751" y="52995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1381276" y="5236028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0876" y="58202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476" y="5921828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Angular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44307" y="5947228"/>
            <a:ext cx="26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17+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0876" y="63790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476" y="6480628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62966" y="6506028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5.3+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0876" y="69378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476" y="7039428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RxJS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71811" y="7064828"/>
            <a:ext cx="342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7.8+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60572" y="1579638"/>
            <a:ext cx="4937276" cy="3210076"/>
          </a:xfrm>
          <a:custGeom>
            <a:avLst/>
            <a:gdLst/>
            <a:ahLst/>
            <a:cxnLst/>
            <a:rect l="l" t="t" r="r" b="b"/>
            <a:pathLst>
              <a:path w="4937276" h="3210076">
                <a:moveTo>
                  <a:pt x="152414" y="0"/>
                </a:moveTo>
                <a:lnTo>
                  <a:pt x="4784862" y="0"/>
                </a:lnTo>
                <a:cubicBezTo>
                  <a:pt x="4869038" y="0"/>
                  <a:pt x="4937276" y="68238"/>
                  <a:pt x="4937276" y="152414"/>
                </a:cubicBezTo>
                <a:lnTo>
                  <a:pt x="4937276" y="3057662"/>
                </a:lnTo>
                <a:cubicBezTo>
                  <a:pt x="4937276" y="3141838"/>
                  <a:pt x="4869038" y="3210076"/>
                  <a:pt x="4784862" y="3210076"/>
                </a:cubicBezTo>
                <a:lnTo>
                  <a:pt x="152414" y="3210076"/>
                </a:lnTo>
                <a:cubicBezTo>
                  <a:pt x="68238" y="3210076"/>
                  <a:pt x="0" y="3141838"/>
                  <a:pt x="0" y="3057662"/>
                </a:cubicBezTo>
                <a:lnTo>
                  <a:pt x="0" y="152414"/>
                </a:lnTo>
                <a:cubicBezTo>
                  <a:pt x="0" y="68295"/>
                  <a:pt x="68295" y="0"/>
                  <a:pt x="15241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68610" y="17876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5" name="Shape 33"/>
          <p:cNvSpPr/>
          <p:nvPr/>
        </p:nvSpPr>
        <p:spPr>
          <a:xfrm>
            <a:off x="6025772" y="192738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Text 34"/>
          <p:cNvSpPr/>
          <p:nvPr/>
        </p:nvSpPr>
        <p:spPr>
          <a:xfrm>
            <a:off x="6529010" y="186388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68610" y="24480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970210" y="254968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079718" y="257508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68610" y="30068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970210" y="3108480"/>
            <a:ext cx="113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Apache Kafka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08659" y="3133880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3.6+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868610" y="35656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970210" y="366728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026952" y="369268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7.2+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868610" y="41244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970210" y="4226080"/>
            <a:ext cx="62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Patroni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15084" y="4251480"/>
            <a:ext cx="342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3.2+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60572" y="4951792"/>
            <a:ext cx="4937276" cy="2651276"/>
          </a:xfrm>
          <a:custGeom>
            <a:avLst/>
            <a:gdLst/>
            <a:ahLst/>
            <a:cxnLst/>
            <a:rect l="l" t="t" r="r" b="b"/>
            <a:pathLst>
              <a:path w="4937276" h="2651276">
                <a:moveTo>
                  <a:pt x="152395" y="0"/>
                </a:moveTo>
                <a:lnTo>
                  <a:pt x="4784881" y="0"/>
                </a:lnTo>
                <a:cubicBezTo>
                  <a:pt x="4869046" y="0"/>
                  <a:pt x="4937276" y="68230"/>
                  <a:pt x="4937276" y="152395"/>
                </a:cubicBezTo>
                <a:lnTo>
                  <a:pt x="4937276" y="2498881"/>
                </a:lnTo>
                <a:cubicBezTo>
                  <a:pt x="4937276" y="2582990"/>
                  <a:pt x="4868990" y="2651276"/>
                  <a:pt x="4784881" y="2651276"/>
                </a:cubicBezTo>
                <a:lnTo>
                  <a:pt x="152395" y="2651276"/>
                </a:lnTo>
                <a:cubicBezTo>
                  <a:pt x="68230" y="2651276"/>
                  <a:pt x="0" y="2583046"/>
                  <a:pt x="0" y="2498881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68610" y="51598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1" name="Shape 49"/>
          <p:cNvSpPr/>
          <p:nvPr/>
        </p:nvSpPr>
        <p:spPr>
          <a:xfrm>
            <a:off x="5997197" y="529952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Text 50"/>
          <p:cNvSpPr/>
          <p:nvPr/>
        </p:nvSpPr>
        <p:spPr>
          <a:xfrm>
            <a:off x="6529010" y="5236028"/>
            <a:ext cx="149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868610" y="58202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970210" y="5921828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964209" y="5947228"/>
            <a:ext cx="393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1.29+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868610" y="63790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970210" y="6480628"/>
            <a:ext cx="64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054999" y="6506028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24+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868610" y="69378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970210" y="7039428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962848" y="7064828"/>
            <a:ext cx="393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3.13+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808305" y="1579638"/>
            <a:ext cx="4937276" cy="2651276"/>
          </a:xfrm>
          <a:custGeom>
            <a:avLst/>
            <a:gdLst/>
            <a:ahLst/>
            <a:cxnLst/>
            <a:rect l="l" t="t" r="r" b="b"/>
            <a:pathLst>
              <a:path w="4937276" h="2651276">
                <a:moveTo>
                  <a:pt x="152395" y="0"/>
                </a:moveTo>
                <a:lnTo>
                  <a:pt x="4784881" y="0"/>
                </a:lnTo>
                <a:cubicBezTo>
                  <a:pt x="4869046" y="0"/>
                  <a:pt x="4937276" y="68230"/>
                  <a:pt x="4937276" y="152395"/>
                </a:cubicBezTo>
                <a:lnTo>
                  <a:pt x="4937276" y="2498881"/>
                </a:lnTo>
                <a:cubicBezTo>
                  <a:pt x="4937276" y="2582990"/>
                  <a:pt x="4868990" y="2651276"/>
                  <a:pt x="4784881" y="2651276"/>
                </a:cubicBezTo>
                <a:lnTo>
                  <a:pt x="152395" y="2651276"/>
                </a:lnTo>
                <a:cubicBezTo>
                  <a:pt x="68230" y="2651276"/>
                  <a:pt x="0" y="2583046"/>
                  <a:pt x="0" y="2498881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9676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16343" y="17876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59218" y="19273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5" name="Text 63"/>
          <p:cNvSpPr/>
          <p:nvPr/>
        </p:nvSpPr>
        <p:spPr>
          <a:xfrm>
            <a:off x="11676743" y="186388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1016343" y="24480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1117943" y="2549680"/>
            <a:ext cx="78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Keycloak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5198649" y="257508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23+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1016343" y="30068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1117943" y="3108480"/>
            <a:ext cx="114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cert-manager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5143767" y="3133880"/>
            <a:ext cx="368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1.13+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016343" y="3565680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1117943" y="3667280"/>
            <a:ext cx="48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Vault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5143314" y="3692680"/>
            <a:ext cx="368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1.15+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808305" y="4392992"/>
            <a:ext cx="4937276" cy="3210076"/>
          </a:xfrm>
          <a:custGeom>
            <a:avLst/>
            <a:gdLst/>
            <a:ahLst/>
            <a:cxnLst/>
            <a:rect l="l" t="t" r="r" b="b"/>
            <a:pathLst>
              <a:path w="4937276" h="3210076">
                <a:moveTo>
                  <a:pt x="152414" y="0"/>
                </a:moveTo>
                <a:lnTo>
                  <a:pt x="4784862" y="0"/>
                </a:lnTo>
                <a:cubicBezTo>
                  <a:pt x="4869038" y="0"/>
                  <a:pt x="4937276" y="68238"/>
                  <a:pt x="4937276" y="152414"/>
                </a:cubicBezTo>
                <a:lnTo>
                  <a:pt x="4937276" y="3057662"/>
                </a:lnTo>
                <a:cubicBezTo>
                  <a:pt x="4937276" y="3141838"/>
                  <a:pt x="4869038" y="3210076"/>
                  <a:pt x="4784862" y="3210076"/>
                </a:cubicBezTo>
                <a:lnTo>
                  <a:pt x="152414" y="3210076"/>
                </a:lnTo>
                <a:cubicBezTo>
                  <a:pt x="68238" y="3210076"/>
                  <a:pt x="0" y="3141838"/>
                  <a:pt x="0" y="3057662"/>
                </a:cubicBezTo>
                <a:lnTo>
                  <a:pt x="0" y="152414"/>
                </a:lnTo>
                <a:cubicBezTo>
                  <a:pt x="0" y="68295"/>
                  <a:pt x="68295" y="0"/>
                  <a:pt x="15241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9676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016343" y="460102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7" name="Shape 75"/>
          <p:cNvSpPr/>
          <p:nvPr/>
        </p:nvSpPr>
        <p:spPr>
          <a:xfrm>
            <a:off x="11159218" y="47407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8" name="Text 76"/>
          <p:cNvSpPr/>
          <p:nvPr/>
        </p:nvSpPr>
        <p:spPr>
          <a:xfrm>
            <a:off x="11676743" y="4677228"/>
            <a:ext cx="144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1016343" y="52614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11117943" y="5363028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5081931" y="5388428"/>
            <a:ext cx="43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2.48+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1016343" y="58202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11117943" y="5921828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Grafana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5097125" y="5947228"/>
            <a:ext cx="40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10.2+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11016343" y="63790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11117943" y="6480628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ELK Stack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15140290" y="6506028"/>
            <a:ext cx="368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8.11+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1016343" y="6937828"/>
            <a:ext cx="4521200" cy="457200"/>
          </a:xfrm>
          <a:custGeom>
            <a:avLst/>
            <a:gdLst/>
            <a:ahLst/>
            <a:cxnLst/>
            <a:rect l="l" t="t" r="r" b="b"/>
            <a:pathLst>
              <a:path w="4521200" h="457200">
                <a:moveTo>
                  <a:pt x="101599" y="0"/>
                </a:moveTo>
                <a:lnTo>
                  <a:pt x="4419601" y="0"/>
                </a:lnTo>
                <a:cubicBezTo>
                  <a:pt x="4475713" y="0"/>
                  <a:pt x="4521200" y="45487"/>
                  <a:pt x="4521200" y="101599"/>
                </a:cubicBezTo>
                <a:lnTo>
                  <a:pt x="4521200" y="355601"/>
                </a:lnTo>
                <a:cubicBezTo>
                  <a:pt x="4521200" y="411713"/>
                  <a:pt x="4475713" y="457200"/>
                  <a:pt x="441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11117943" y="7039428"/>
            <a:ext cx="55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Jaeger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15092741" y="7064828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1.50+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b1a1d8cca37d7f68d0a6170381b34ce537252a4e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519" r="51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4A6D8C">
                  <a:alpha val="30000"/>
                </a:srgbClr>
              </a:gs>
              <a:gs pos="100000">
                <a:srgbClr val="5E8B7E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NEXT STEPS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863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Recommendations &amp; Next Steps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2838" y="1782838"/>
            <a:ext cx="7477276" cy="1279676"/>
          </a:xfrm>
          <a:custGeom>
            <a:avLst/>
            <a:gdLst/>
            <a:ahLst/>
            <a:cxnLst/>
            <a:rect l="l" t="t" r="r" b="b"/>
            <a:pathLst>
              <a:path w="7477276" h="1279676">
                <a:moveTo>
                  <a:pt x="152397" y="0"/>
                </a:moveTo>
                <a:lnTo>
                  <a:pt x="7324880" y="0"/>
                </a:lnTo>
                <a:cubicBezTo>
                  <a:pt x="7409046" y="0"/>
                  <a:pt x="7477276" y="68230"/>
                  <a:pt x="7477276" y="152397"/>
                </a:cubicBezTo>
                <a:lnTo>
                  <a:pt x="7477276" y="1127280"/>
                </a:lnTo>
                <a:cubicBezTo>
                  <a:pt x="7477276" y="1211446"/>
                  <a:pt x="7409046" y="1279676"/>
                  <a:pt x="7324880" y="1279676"/>
                </a:cubicBezTo>
                <a:lnTo>
                  <a:pt x="152397" y="1279676"/>
                </a:lnTo>
                <a:cubicBezTo>
                  <a:pt x="68230" y="1279676"/>
                  <a:pt x="0" y="1211446"/>
                  <a:pt x="0" y="1127280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9676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0876" y="199087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" name="Shape 5"/>
          <p:cNvSpPr/>
          <p:nvPr/>
        </p:nvSpPr>
        <p:spPr>
          <a:xfrm>
            <a:off x="849464" y="213057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6"/>
          <p:cNvSpPr/>
          <p:nvPr/>
        </p:nvSpPr>
        <p:spPr>
          <a:xfrm>
            <a:off x="1381276" y="2067074"/>
            <a:ext cx="147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Mesh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0876" y="2600474"/>
            <a:ext cx="715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Istio or Linkerd for advanced traffic management, mTLS, and observability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2838" y="3224598"/>
            <a:ext cx="7477276" cy="1533676"/>
          </a:xfrm>
          <a:custGeom>
            <a:avLst/>
            <a:gdLst/>
            <a:ahLst/>
            <a:cxnLst/>
            <a:rect l="l" t="t" r="r" b="b"/>
            <a:pathLst>
              <a:path w="7477276" h="1533676">
                <a:moveTo>
                  <a:pt x="152401" y="0"/>
                </a:moveTo>
                <a:lnTo>
                  <a:pt x="7324875" y="0"/>
                </a:lnTo>
                <a:cubicBezTo>
                  <a:pt x="7409044" y="0"/>
                  <a:pt x="7477276" y="68232"/>
                  <a:pt x="7477276" y="152401"/>
                </a:cubicBezTo>
                <a:lnTo>
                  <a:pt x="7477276" y="1381275"/>
                </a:lnTo>
                <a:cubicBezTo>
                  <a:pt x="7477276" y="1465444"/>
                  <a:pt x="7409044" y="1533676"/>
                  <a:pt x="7324875" y="1533676"/>
                </a:cubicBezTo>
                <a:lnTo>
                  <a:pt x="152401" y="1533676"/>
                </a:lnTo>
                <a:cubicBezTo>
                  <a:pt x="68232" y="1533676"/>
                  <a:pt x="0" y="1465444"/>
                  <a:pt x="0" y="1381275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9676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0876" y="34326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Shape 10"/>
          <p:cNvSpPr/>
          <p:nvPr/>
        </p:nvSpPr>
        <p:spPr>
          <a:xfrm>
            <a:off x="878039" y="357233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Text 11"/>
          <p:cNvSpPr/>
          <p:nvPr/>
        </p:nvSpPr>
        <p:spPr>
          <a:xfrm>
            <a:off x="1381276" y="3508834"/>
            <a:ext cx="151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CQRS Pattern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0876" y="4042234"/>
            <a:ext cx="715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Adopt Command Query Responsibility Segregation for complex query scenarios and read optimization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12838" y="4920346"/>
            <a:ext cx="7477276" cy="1279676"/>
          </a:xfrm>
          <a:custGeom>
            <a:avLst/>
            <a:gdLst/>
            <a:ahLst/>
            <a:cxnLst/>
            <a:rect l="l" t="t" r="r" b="b"/>
            <a:pathLst>
              <a:path w="7477276" h="1279676">
                <a:moveTo>
                  <a:pt x="152397" y="0"/>
                </a:moveTo>
                <a:lnTo>
                  <a:pt x="7324880" y="0"/>
                </a:lnTo>
                <a:cubicBezTo>
                  <a:pt x="7409046" y="0"/>
                  <a:pt x="7477276" y="68230"/>
                  <a:pt x="7477276" y="152397"/>
                </a:cubicBezTo>
                <a:lnTo>
                  <a:pt x="7477276" y="1127280"/>
                </a:lnTo>
                <a:cubicBezTo>
                  <a:pt x="7477276" y="1211446"/>
                  <a:pt x="7409046" y="1279676"/>
                  <a:pt x="7324880" y="1279676"/>
                </a:cubicBezTo>
                <a:lnTo>
                  <a:pt x="152397" y="1279676"/>
                </a:lnTo>
                <a:cubicBezTo>
                  <a:pt x="68230" y="1279676"/>
                  <a:pt x="0" y="1211446"/>
                  <a:pt x="0" y="1127280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9676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0876" y="512838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8" name="Shape 15"/>
          <p:cNvSpPr/>
          <p:nvPr/>
        </p:nvSpPr>
        <p:spPr>
          <a:xfrm>
            <a:off x="849464" y="526808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28575"/>
                </a:moveTo>
                <a:cubicBezTo>
                  <a:pt x="175915" y="28575"/>
                  <a:pt x="214313" y="66973"/>
                  <a:pt x="214313" y="114300"/>
                </a:cubicBezTo>
                <a:cubicBezTo>
                  <a:pt x="214313" y="161627"/>
                  <a:pt x="175915" y="200025"/>
                  <a:pt x="128588" y="200025"/>
                </a:cubicBezTo>
                <a:cubicBezTo>
                  <a:pt x="99477" y="200025"/>
                  <a:pt x="73715" y="185514"/>
                  <a:pt x="58222" y="163279"/>
                </a:cubicBezTo>
                <a:cubicBezTo>
                  <a:pt x="53712" y="156805"/>
                  <a:pt x="44782" y="155243"/>
                  <a:pt x="38308" y="159752"/>
                </a:cubicBezTo>
                <a:cubicBezTo>
                  <a:pt x="31834" y="164262"/>
                  <a:pt x="30272" y="173191"/>
                  <a:pt x="34781" y="179665"/>
                </a:cubicBezTo>
                <a:cubicBezTo>
                  <a:pt x="55409" y="209223"/>
                  <a:pt x="89743" y="228600"/>
                  <a:pt x="128588" y="228600"/>
                </a:cubicBezTo>
                <a:cubicBezTo>
                  <a:pt x="191720" y="228600"/>
                  <a:pt x="242888" y="177433"/>
                  <a:pt x="242888" y="114300"/>
                </a:cubicBezTo>
                <a:cubicBezTo>
                  <a:pt x="242888" y="51167"/>
                  <a:pt x="191720" y="0"/>
                  <a:pt x="128588" y="0"/>
                </a:cubicBezTo>
                <a:cubicBezTo>
                  <a:pt x="90324" y="0"/>
                  <a:pt x="56480" y="18797"/>
                  <a:pt x="35719" y="47640"/>
                </a:cubicBezTo>
                <a:lnTo>
                  <a:pt x="35719" y="35719"/>
                </a:lnTo>
                <a:cubicBezTo>
                  <a:pt x="35719" y="27816"/>
                  <a:pt x="29334" y="21431"/>
                  <a:pt x="21431" y="21431"/>
                </a:cubicBezTo>
                <a:cubicBezTo>
                  <a:pt x="13528" y="21431"/>
                  <a:pt x="7144" y="27816"/>
                  <a:pt x="7144" y="35719"/>
                </a:cubicBezTo>
                <a:lnTo>
                  <a:pt x="7144" y="85725"/>
                </a:lnTo>
                <a:cubicBezTo>
                  <a:pt x="7144" y="93628"/>
                  <a:pt x="13528" y="100013"/>
                  <a:pt x="21431" y="100013"/>
                </a:cubicBezTo>
                <a:lnTo>
                  <a:pt x="32415" y="100013"/>
                </a:lnTo>
                <a:cubicBezTo>
                  <a:pt x="32638" y="100013"/>
                  <a:pt x="32861" y="100013"/>
                  <a:pt x="33084" y="100013"/>
                </a:cubicBezTo>
                <a:lnTo>
                  <a:pt x="71482" y="100013"/>
                </a:lnTo>
                <a:cubicBezTo>
                  <a:pt x="79385" y="100013"/>
                  <a:pt x="85770" y="93628"/>
                  <a:pt x="85770" y="85725"/>
                </a:cubicBezTo>
                <a:cubicBezTo>
                  <a:pt x="85770" y="77822"/>
                  <a:pt x="79385" y="71438"/>
                  <a:pt x="71482" y="71438"/>
                </a:cubicBezTo>
                <a:lnTo>
                  <a:pt x="54382" y="71438"/>
                </a:lnTo>
                <a:cubicBezTo>
                  <a:pt x="69160" y="45809"/>
                  <a:pt x="96887" y="28575"/>
                  <a:pt x="128588" y="28575"/>
                </a:cubicBezTo>
                <a:close/>
                <a:moveTo>
                  <a:pt x="139303" y="67866"/>
                </a:moveTo>
                <a:cubicBezTo>
                  <a:pt x="139303" y="61927"/>
                  <a:pt x="134526" y="57150"/>
                  <a:pt x="128588" y="57150"/>
                </a:cubicBezTo>
                <a:cubicBezTo>
                  <a:pt x="122649" y="57150"/>
                  <a:pt x="117872" y="61927"/>
                  <a:pt x="117872" y="67866"/>
                </a:cubicBezTo>
                <a:lnTo>
                  <a:pt x="117872" y="114300"/>
                </a:lnTo>
                <a:cubicBezTo>
                  <a:pt x="117872" y="117157"/>
                  <a:pt x="118988" y="119881"/>
                  <a:pt x="120997" y="121890"/>
                </a:cubicBezTo>
                <a:lnTo>
                  <a:pt x="153144" y="154037"/>
                </a:lnTo>
                <a:cubicBezTo>
                  <a:pt x="157341" y="158234"/>
                  <a:pt x="164128" y="158234"/>
                  <a:pt x="168280" y="154037"/>
                </a:cubicBezTo>
                <a:cubicBezTo>
                  <a:pt x="172432" y="149840"/>
                  <a:pt x="172477" y="143054"/>
                  <a:pt x="168280" y="138901"/>
                </a:cubicBezTo>
                <a:lnTo>
                  <a:pt x="139258" y="109880"/>
                </a:lnTo>
                <a:lnTo>
                  <a:pt x="139258" y="6786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6"/>
          <p:cNvSpPr/>
          <p:nvPr/>
        </p:nvSpPr>
        <p:spPr>
          <a:xfrm>
            <a:off x="1381276" y="5204582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Sourcing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20876" y="5737982"/>
            <a:ext cx="715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Consider event sourcing for audit trails, compliance requirements, and state reconstruction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12838" y="6362093"/>
            <a:ext cx="7477276" cy="1279676"/>
          </a:xfrm>
          <a:custGeom>
            <a:avLst/>
            <a:gdLst/>
            <a:ahLst/>
            <a:cxnLst/>
            <a:rect l="l" t="t" r="r" b="b"/>
            <a:pathLst>
              <a:path w="7477276" h="1279676">
                <a:moveTo>
                  <a:pt x="152397" y="0"/>
                </a:moveTo>
                <a:lnTo>
                  <a:pt x="7324880" y="0"/>
                </a:lnTo>
                <a:cubicBezTo>
                  <a:pt x="7409046" y="0"/>
                  <a:pt x="7477276" y="68230"/>
                  <a:pt x="7477276" y="152397"/>
                </a:cubicBezTo>
                <a:lnTo>
                  <a:pt x="7477276" y="1127280"/>
                </a:lnTo>
                <a:cubicBezTo>
                  <a:pt x="7477276" y="1211446"/>
                  <a:pt x="7409046" y="1279676"/>
                  <a:pt x="7324880" y="1279676"/>
                </a:cubicBezTo>
                <a:lnTo>
                  <a:pt x="152397" y="1279676"/>
                </a:lnTo>
                <a:cubicBezTo>
                  <a:pt x="68230" y="1279676"/>
                  <a:pt x="0" y="1211446"/>
                  <a:pt x="0" y="1127280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9676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0876" y="657014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Shape 20"/>
          <p:cNvSpPr/>
          <p:nvPr/>
        </p:nvSpPr>
        <p:spPr>
          <a:xfrm>
            <a:off x="849464" y="670984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3" y="-7144"/>
                </a:moveTo>
                <a:cubicBezTo>
                  <a:pt x="217393" y="-7144"/>
                  <a:pt x="220117" y="-5179"/>
                  <a:pt x="221099" y="-2277"/>
                </a:cubicBezTo>
                <a:lnTo>
                  <a:pt x="227127" y="15761"/>
                </a:lnTo>
                <a:lnTo>
                  <a:pt x="245165" y="21788"/>
                </a:lnTo>
                <a:cubicBezTo>
                  <a:pt x="248067" y="22771"/>
                  <a:pt x="250031" y="25494"/>
                  <a:pt x="250031" y="28575"/>
                </a:cubicBezTo>
                <a:cubicBezTo>
                  <a:pt x="250031" y="31656"/>
                  <a:pt x="248067" y="34379"/>
                  <a:pt x="245165" y="35362"/>
                </a:cubicBezTo>
                <a:lnTo>
                  <a:pt x="227127" y="41389"/>
                </a:lnTo>
                <a:lnTo>
                  <a:pt x="221099" y="59427"/>
                </a:lnTo>
                <a:cubicBezTo>
                  <a:pt x="220117" y="62329"/>
                  <a:pt x="217393" y="64294"/>
                  <a:pt x="214313" y="64294"/>
                </a:cubicBezTo>
                <a:cubicBezTo>
                  <a:pt x="211232" y="64294"/>
                  <a:pt x="208508" y="62329"/>
                  <a:pt x="207526" y="59427"/>
                </a:cubicBezTo>
                <a:lnTo>
                  <a:pt x="201498" y="41389"/>
                </a:lnTo>
                <a:lnTo>
                  <a:pt x="183460" y="35362"/>
                </a:lnTo>
                <a:cubicBezTo>
                  <a:pt x="180558" y="34379"/>
                  <a:pt x="178594" y="31656"/>
                  <a:pt x="178594" y="28575"/>
                </a:cubicBezTo>
                <a:cubicBezTo>
                  <a:pt x="178594" y="25494"/>
                  <a:pt x="180558" y="22771"/>
                  <a:pt x="183460" y="21788"/>
                </a:cubicBezTo>
                <a:lnTo>
                  <a:pt x="201498" y="15761"/>
                </a:lnTo>
                <a:lnTo>
                  <a:pt x="207526" y="-2277"/>
                </a:lnTo>
                <a:cubicBezTo>
                  <a:pt x="208508" y="-5179"/>
                  <a:pt x="211232" y="-7144"/>
                  <a:pt x="214313" y="-7144"/>
                </a:cubicBezTo>
                <a:close/>
                <a:moveTo>
                  <a:pt x="143500" y="43488"/>
                </a:moveTo>
                <a:cubicBezTo>
                  <a:pt x="149081" y="37907"/>
                  <a:pt x="158145" y="37907"/>
                  <a:pt x="163726" y="43488"/>
                </a:cubicBezTo>
                <a:lnTo>
                  <a:pt x="199445" y="79206"/>
                </a:lnTo>
                <a:cubicBezTo>
                  <a:pt x="205026" y="84787"/>
                  <a:pt x="205026" y="93851"/>
                  <a:pt x="199445" y="99432"/>
                </a:cubicBezTo>
                <a:lnTo>
                  <a:pt x="194578" y="104299"/>
                </a:lnTo>
                <a:cubicBezTo>
                  <a:pt x="198105" y="114121"/>
                  <a:pt x="200025" y="124703"/>
                  <a:pt x="200025" y="135776"/>
                </a:cubicBezTo>
                <a:cubicBezTo>
                  <a:pt x="200025" y="187077"/>
                  <a:pt x="158457" y="228645"/>
                  <a:pt x="107156" y="228645"/>
                </a:cubicBezTo>
                <a:cubicBezTo>
                  <a:pt x="55855" y="228645"/>
                  <a:pt x="14288" y="187032"/>
                  <a:pt x="14288" y="135731"/>
                </a:cubicBezTo>
                <a:cubicBezTo>
                  <a:pt x="14288" y="84430"/>
                  <a:pt x="55855" y="42863"/>
                  <a:pt x="107156" y="42863"/>
                </a:cubicBezTo>
                <a:cubicBezTo>
                  <a:pt x="118184" y="42863"/>
                  <a:pt x="128811" y="44782"/>
                  <a:pt x="138633" y="48354"/>
                </a:cubicBezTo>
                <a:lnTo>
                  <a:pt x="143500" y="43488"/>
                </a:lnTo>
                <a:close/>
                <a:moveTo>
                  <a:pt x="64294" y="135731"/>
                </a:moveTo>
                <a:cubicBezTo>
                  <a:pt x="64294" y="112068"/>
                  <a:pt x="83493" y="92869"/>
                  <a:pt x="107156" y="92869"/>
                </a:cubicBezTo>
                <a:cubicBezTo>
                  <a:pt x="113094" y="92869"/>
                  <a:pt x="117872" y="88091"/>
                  <a:pt x="117872" y="82153"/>
                </a:cubicBezTo>
                <a:cubicBezTo>
                  <a:pt x="117872" y="76215"/>
                  <a:pt x="113094" y="71438"/>
                  <a:pt x="107156" y="71438"/>
                </a:cubicBezTo>
                <a:cubicBezTo>
                  <a:pt x="71661" y="71438"/>
                  <a:pt x="42863" y="100236"/>
                  <a:pt x="42863" y="135731"/>
                </a:cubicBezTo>
                <a:cubicBezTo>
                  <a:pt x="42863" y="141669"/>
                  <a:pt x="47640" y="146447"/>
                  <a:pt x="53578" y="146447"/>
                </a:cubicBezTo>
                <a:cubicBezTo>
                  <a:pt x="59516" y="146447"/>
                  <a:pt x="64294" y="141669"/>
                  <a:pt x="64294" y="13573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1"/>
          <p:cNvSpPr/>
          <p:nvPr/>
        </p:nvSpPr>
        <p:spPr>
          <a:xfrm>
            <a:off x="1381276" y="6646342"/>
            <a:ext cx="200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Chaos Engineering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0876" y="7179742"/>
            <a:ext cx="715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chaos testing with Litmus or Chaos Mesh to validate resilience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59838" y="1782838"/>
            <a:ext cx="7477276" cy="1279676"/>
          </a:xfrm>
          <a:custGeom>
            <a:avLst/>
            <a:gdLst/>
            <a:ahLst/>
            <a:cxnLst/>
            <a:rect l="l" t="t" r="r" b="b"/>
            <a:pathLst>
              <a:path w="7477276" h="1279676">
                <a:moveTo>
                  <a:pt x="152397" y="0"/>
                </a:moveTo>
                <a:lnTo>
                  <a:pt x="7324880" y="0"/>
                </a:lnTo>
                <a:cubicBezTo>
                  <a:pt x="7409046" y="0"/>
                  <a:pt x="7477276" y="68230"/>
                  <a:pt x="7477276" y="152397"/>
                </a:cubicBezTo>
                <a:lnTo>
                  <a:pt x="7477276" y="1127280"/>
                </a:lnTo>
                <a:cubicBezTo>
                  <a:pt x="7477276" y="1211446"/>
                  <a:pt x="7409046" y="1279676"/>
                  <a:pt x="7324880" y="1279676"/>
                </a:cubicBezTo>
                <a:lnTo>
                  <a:pt x="152397" y="1279676"/>
                </a:lnTo>
                <a:cubicBezTo>
                  <a:pt x="68230" y="1279676"/>
                  <a:pt x="0" y="1211446"/>
                  <a:pt x="0" y="1127280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9676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67876" y="199087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8" name="Shape 25"/>
          <p:cNvSpPr/>
          <p:nvPr/>
        </p:nvSpPr>
        <p:spPr>
          <a:xfrm>
            <a:off x="8582176" y="2130574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6"/>
          <p:cNvSpPr/>
          <p:nvPr/>
        </p:nvSpPr>
        <p:spPr>
          <a:xfrm>
            <a:off x="9128276" y="2067074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SRE Practices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467876" y="2600474"/>
            <a:ext cx="715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Site Reliability Engineering with error budgets, SLOs, and blameless postmortems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259838" y="3224598"/>
            <a:ext cx="7477276" cy="1533676"/>
          </a:xfrm>
          <a:custGeom>
            <a:avLst/>
            <a:gdLst/>
            <a:ahLst/>
            <a:cxnLst/>
            <a:rect l="l" t="t" r="r" b="b"/>
            <a:pathLst>
              <a:path w="7477276" h="1533676">
                <a:moveTo>
                  <a:pt x="152401" y="0"/>
                </a:moveTo>
                <a:lnTo>
                  <a:pt x="7324875" y="0"/>
                </a:lnTo>
                <a:cubicBezTo>
                  <a:pt x="7409044" y="0"/>
                  <a:pt x="7477276" y="68232"/>
                  <a:pt x="7477276" y="152401"/>
                </a:cubicBezTo>
                <a:lnTo>
                  <a:pt x="7477276" y="1381275"/>
                </a:lnTo>
                <a:cubicBezTo>
                  <a:pt x="7477276" y="1465444"/>
                  <a:pt x="7409044" y="1533676"/>
                  <a:pt x="7324875" y="1533676"/>
                </a:cubicBezTo>
                <a:lnTo>
                  <a:pt x="152401" y="1533676"/>
                </a:lnTo>
                <a:cubicBezTo>
                  <a:pt x="68232" y="1533676"/>
                  <a:pt x="0" y="1465444"/>
                  <a:pt x="0" y="1381275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9676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67876" y="34326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Shape 30"/>
          <p:cNvSpPr/>
          <p:nvPr/>
        </p:nvSpPr>
        <p:spPr>
          <a:xfrm>
            <a:off x="8625039" y="357233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1"/>
          <p:cNvSpPr/>
          <p:nvPr/>
        </p:nvSpPr>
        <p:spPr>
          <a:xfrm>
            <a:off x="9128276" y="3508834"/>
            <a:ext cx="166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467876" y="4042234"/>
            <a:ext cx="715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comprehensive API documentation with OpenAPI specs and architecture decision records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259838" y="4920346"/>
            <a:ext cx="7477276" cy="1279676"/>
          </a:xfrm>
          <a:custGeom>
            <a:avLst/>
            <a:gdLst/>
            <a:ahLst/>
            <a:cxnLst/>
            <a:rect l="l" t="t" r="r" b="b"/>
            <a:pathLst>
              <a:path w="7477276" h="1279676">
                <a:moveTo>
                  <a:pt x="152397" y="0"/>
                </a:moveTo>
                <a:lnTo>
                  <a:pt x="7324880" y="0"/>
                </a:lnTo>
                <a:cubicBezTo>
                  <a:pt x="7409046" y="0"/>
                  <a:pt x="7477276" y="68230"/>
                  <a:pt x="7477276" y="152397"/>
                </a:cubicBezTo>
                <a:lnTo>
                  <a:pt x="7477276" y="1127280"/>
                </a:lnTo>
                <a:cubicBezTo>
                  <a:pt x="7477276" y="1211446"/>
                  <a:pt x="7409046" y="1279676"/>
                  <a:pt x="7324880" y="1279676"/>
                </a:cubicBezTo>
                <a:lnTo>
                  <a:pt x="152397" y="1279676"/>
                </a:lnTo>
                <a:cubicBezTo>
                  <a:pt x="68230" y="1279676"/>
                  <a:pt x="0" y="1211446"/>
                  <a:pt x="0" y="1127280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9676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467876" y="512838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8" name="Shape 35"/>
          <p:cNvSpPr/>
          <p:nvPr/>
        </p:nvSpPr>
        <p:spPr>
          <a:xfrm>
            <a:off x="8610751" y="52680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Text 36"/>
          <p:cNvSpPr/>
          <p:nvPr/>
        </p:nvSpPr>
        <p:spPr>
          <a:xfrm>
            <a:off x="9128276" y="5204582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Audits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467876" y="5737982"/>
            <a:ext cx="715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 regular security audits, penetration testing, and vulnerability assessments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259838" y="6362093"/>
            <a:ext cx="7477276" cy="1279676"/>
          </a:xfrm>
          <a:custGeom>
            <a:avLst/>
            <a:gdLst/>
            <a:ahLst/>
            <a:cxnLst/>
            <a:rect l="l" t="t" r="r" b="b"/>
            <a:pathLst>
              <a:path w="7477276" h="1279676">
                <a:moveTo>
                  <a:pt x="152397" y="0"/>
                </a:moveTo>
                <a:lnTo>
                  <a:pt x="7324880" y="0"/>
                </a:lnTo>
                <a:cubicBezTo>
                  <a:pt x="7409046" y="0"/>
                  <a:pt x="7477276" y="68230"/>
                  <a:pt x="7477276" y="152397"/>
                </a:cubicBezTo>
                <a:lnTo>
                  <a:pt x="7477276" y="1127280"/>
                </a:lnTo>
                <a:cubicBezTo>
                  <a:pt x="7477276" y="1211446"/>
                  <a:pt x="7409046" y="1279676"/>
                  <a:pt x="7324880" y="1279676"/>
                </a:cubicBezTo>
                <a:lnTo>
                  <a:pt x="152397" y="1279676"/>
                </a:lnTo>
                <a:cubicBezTo>
                  <a:pt x="68230" y="1279676"/>
                  <a:pt x="0" y="1211446"/>
                  <a:pt x="0" y="1127280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9676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467876" y="657014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Shape 40"/>
          <p:cNvSpPr/>
          <p:nvPr/>
        </p:nvSpPr>
        <p:spPr>
          <a:xfrm>
            <a:off x="8610751" y="67098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Text 41"/>
          <p:cNvSpPr/>
          <p:nvPr/>
        </p:nvSpPr>
        <p:spPr>
          <a:xfrm>
            <a:off x="9128276" y="6646342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Multi-Region DR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467876" y="7179742"/>
            <a:ext cx="715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for multi-region disaster recovery with cross-region replication and automated failover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512838" y="7854654"/>
            <a:ext cx="15224276" cy="1025676"/>
          </a:xfrm>
          <a:custGeom>
            <a:avLst/>
            <a:gdLst/>
            <a:ahLst/>
            <a:cxnLst/>
            <a:rect l="l" t="t" r="r" b="b"/>
            <a:pathLst>
              <a:path w="15224276" h="1025676">
                <a:moveTo>
                  <a:pt x="152395" y="0"/>
                </a:moveTo>
                <a:lnTo>
                  <a:pt x="15071881" y="0"/>
                </a:lnTo>
                <a:cubicBezTo>
                  <a:pt x="15156047" y="0"/>
                  <a:pt x="15224276" y="68230"/>
                  <a:pt x="15224276" y="152395"/>
                </a:cubicBezTo>
                <a:lnTo>
                  <a:pt x="15224276" y="873281"/>
                </a:lnTo>
                <a:cubicBezTo>
                  <a:pt x="15224276" y="957447"/>
                  <a:pt x="15156047" y="1025676"/>
                  <a:pt x="15071881" y="1025676"/>
                </a:cubicBezTo>
                <a:lnTo>
                  <a:pt x="152395" y="1025676"/>
                </a:lnTo>
                <a:cubicBezTo>
                  <a:pt x="68230" y="1025676"/>
                  <a:pt x="0" y="957447"/>
                  <a:pt x="0" y="873281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2D3136">
              <a:alpha val="80000"/>
            </a:srgbClr>
          </a:solidFill>
          <a:ln w="9676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1676" y="81769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5"/>
          <p:cNvSpPr/>
          <p:nvPr/>
        </p:nvSpPr>
        <p:spPr>
          <a:xfrm>
            <a:off x="1400326" y="8062689"/>
            <a:ext cx="331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Build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400326" y="8418289"/>
            <a:ext cx="327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iQube V2 - Enterprise Workflow Platform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2434585" y="8062689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2472685" y="8469089"/>
            <a:ext cx="101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Target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3574939" y="8062689"/>
            <a:ext cx="825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6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10x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3613039" y="8469089"/>
            <a:ext cx="749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4446024" y="8062689"/>
            <a:ext cx="116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4484124" y="8469089"/>
            <a:ext cx="1092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iQube V2 Workflow Platform - Architecture Design Document</dc:title>
  <dc:subject>iQube V2 Workflow Platform - Architecture Design Document</dc:subject>
  <dc:creator>Kimi</dc:creator>
  <cp:lastModifiedBy>Bhushan Dorage</cp:lastModifiedBy>
  <cp:revision>2</cp:revision>
  <dcterms:created xsi:type="dcterms:W3CDTF">2026-03-02T16:41:18Z</dcterms:created>
  <dcterms:modified xsi:type="dcterms:W3CDTF">2026-03-02T16:48:17Z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{"Label":"iQube V2 Workflow Platform - Architecture Design Document","ContentProducer":"001191110108MACG2KBH8F10000","ProduceID":"","ReservedCode1":"","ContentPropagator":"001191110108MACG2KBH8F20000","PropagateID":"","ReservedCode2":""}</vt:lpwstr>
  </property>
</Properties>
</file>